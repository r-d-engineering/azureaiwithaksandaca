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2" r:id="rId8"/>
    <p:sldId id="263"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9980-9696-4715-F914-3C5653F82B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A8EB09-3273-82EC-D2D9-B71621DA3E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F4336A-EE2A-C13E-54FF-9E3086FB7C53}"/>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0CA3C04A-AA1B-4A16-4D28-24AC0012DE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3CAA6E-EFA9-D879-4615-083416A0A848}"/>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2921828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D120-4A03-31D2-D337-7A86D9354C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13B269-B899-3EFB-BB85-A359217E54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B3705-2588-0F98-0B90-637F82F78A5C}"/>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A3A35E5A-96E3-04C6-0CE8-76C7F33749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3D40D-7D94-5A96-FABF-9ED65643137F}"/>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3724918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7DF7-90C6-EDA0-E814-01198BC7E4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DDF995-F3DF-41E1-980D-EE36ADA189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EC39E8-5C25-2DE0-F661-C4A01C560D6B}"/>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C84340C8-6544-8EBF-6E4D-C7BF751262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179B0A-AC97-A14D-18ED-E9F4B3DBE583}"/>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2245201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D31C-9785-E07E-6753-2BBE708018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F8347B-008D-9148-7266-9C93B41F64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94B215-6B79-5A69-5007-FCFC97DE0A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E2BAFA-27FA-389F-1F0C-630E5836937A}"/>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6" name="Footer Placeholder 5">
            <a:extLst>
              <a:ext uri="{FF2B5EF4-FFF2-40B4-BE49-F238E27FC236}">
                <a16:creationId xmlns:a16="http://schemas.microsoft.com/office/drawing/2014/main" id="{67C8F681-4BC7-A474-0EFE-B7589CF05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CFB536-7E47-E6DD-350C-E3BC4DF6EF0F}"/>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933529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3329-394A-D6BB-C274-1F7FFB6555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35DC1B-482B-2752-35F5-0A87588193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4C8F28-A104-5EE6-D446-53764D40A8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43461A1-2E46-19A4-A5DC-474E86D6D7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39F5F5-9086-5C15-D2C3-11082982D8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95AEBA-F86D-5A40-EDAA-23B77BAB119E}"/>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8" name="Footer Placeholder 7">
            <a:extLst>
              <a:ext uri="{FF2B5EF4-FFF2-40B4-BE49-F238E27FC236}">
                <a16:creationId xmlns:a16="http://schemas.microsoft.com/office/drawing/2014/main" id="{BBF44F8D-D7F1-24B9-5AA9-94FAE0D6C1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69A439-7E88-A96C-6793-C6CCEE8C76AC}"/>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2706316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4D62-7BED-5707-30FA-736185567F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F90C00-7BD5-4F8F-3D32-77DDCF03B23D}"/>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4" name="Footer Placeholder 3">
            <a:extLst>
              <a:ext uri="{FF2B5EF4-FFF2-40B4-BE49-F238E27FC236}">
                <a16:creationId xmlns:a16="http://schemas.microsoft.com/office/drawing/2014/main" id="{2AB06AED-2780-A59E-58E5-3B3357D533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4A0ECF-7C1B-980C-29E6-5C5D9F98931C}"/>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3100261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55556A-7379-600B-5DD5-9B98F5C16B5A}"/>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3" name="Footer Placeholder 2">
            <a:extLst>
              <a:ext uri="{FF2B5EF4-FFF2-40B4-BE49-F238E27FC236}">
                <a16:creationId xmlns:a16="http://schemas.microsoft.com/office/drawing/2014/main" id="{67416643-8753-9C84-2C32-DD10058D1B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01638D-E163-1D77-0939-7142DDE5EE22}"/>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1764272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D559-457B-B6A0-04DB-6F376274C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D1EC82-EA2B-FA28-BAEA-50C462C764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51F74C-D0E0-C1DE-5A3E-8167BAB02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E0CB8B-BD96-57D1-08A9-D3044663F24D}"/>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6" name="Footer Placeholder 5">
            <a:extLst>
              <a:ext uri="{FF2B5EF4-FFF2-40B4-BE49-F238E27FC236}">
                <a16:creationId xmlns:a16="http://schemas.microsoft.com/office/drawing/2014/main" id="{E9519815-4E50-C2CE-1728-685BA8D051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C2E12A-FA9C-21FC-D7B7-2D4E25849100}"/>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413154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71A6C-39F8-C64F-5C8A-D69FF8C6C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E00301-2AE9-3D3F-1FE8-BB8AD70665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618233-D948-4DE1-1629-19C5F2E80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4BB9AE-AD5F-03A3-5785-7ECD8EDC96CC}"/>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6" name="Footer Placeholder 5">
            <a:extLst>
              <a:ext uri="{FF2B5EF4-FFF2-40B4-BE49-F238E27FC236}">
                <a16:creationId xmlns:a16="http://schemas.microsoft.com/office/drawing/2014/main" id="{122D9169-134E-D9FD-9FE5-43553D1683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39C01D-4B28-C32D-450F-007334569CF5}"/>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1296530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0361-FCE7-B83B-1247-48D5BBF8D4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B708B1-7D05-F418-F760-D6B647B36F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A6E473-75A2-0856-69BF-D3645B09A6BD}"/>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1B429CA0-9BE4-D7C9-BEBE-1FCF34B934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6F6D1C-DED4-CCAB-564A-ADE0E53221EC}"/>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2403197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5B4C25-B22F-4E31-9A9D-EDC14C4ABC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D641D3-6D45-2AB9-2F00-9E76406F00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E60CB7-1BA2-4BDA-2533-8CB5EBC0B3DF}"/>
              </a:ext>
            </a:extLst>
          </p:cNvPr>
          <p:cNvSpPr>
            <a:spLocks noGrp="1"/>
          </p:cNvSpPr>
          <p:nvPr>
            <p:ph type="dt" sz="half" idx="10"/>
          </p:nvPr>
        </p:nvSpPr>
        <p:spPr/>
        <p:txBody>
          <a:body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3AD3506C-AC97-5F0E-8381-F11B727F3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6CE1A-DC8E-C68B-5C80-61B6C680B833}"/>
              </a:ext>
            </a:extLst>
          </p:cNvPr>
          <p:cNvSpPr>
            <a:spLocks noGrp="1"/>
          </p:cNvSpPr>
          <p:nvPr>
            <p:ph type="sldNum" sz="quarter" idx="12"/>
          </p:nvPr>
        </p:nvSpPr>
        <p:spPr/>
        <p:txBody>
          <a:bodyPr/>
          <a:lstStyle/>
          <a:p>
            <a:fld id="{9563AD5D-CAD9-4756-8D14-6B1EBC9C1DCD}" type="slidenum">
              <a:rPr lang="en-IN" smtClean="0"/>
              <a:t>‹#›</a:t>
            </a:fld>
            <a:endParaRPr lang="en-IN"/>
          </a:p>
        </p:txBody>
      </p:sp>
    </p:spTree>
    <p:extLst>
      <p:ext uri="{BB962C8B-B14F-4D97-AF65-F5344CB8AC3E}">
        <p14:creationId xmlns:p14="http://schemas.microsoft.com/office/powerpoint/2010/main" val="64555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A23F9-A8D5-5D61-A561-C32BB04DC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5F709E-4827-9A3E-DA50-C6E4D174A5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622D26-74EC-C48E-98A6-7BAC578486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F80FE8-9728-4CC6-8DCD-8150D937C927}" type="datetimeFigureOut">
              <a:rPr lang="en-IN" smtClean="0"/>
              <a:t>23-07-2025</a:t>
            </a:fld>
            <a:endParaRPr lang="en-IN"/>
          </a:p>
        </p:txBody>
      </p:sp>
      <p:sp>
        <p:nvSpPr>
          <p:cNvPr id="5" name="Footer Placeholder 4">
            <a:extLst>
              <a:ext uri="{FF2B5EF4-FFF2-40B4-BE49-F238E27FC236}">
                <a16:creationId xmlns:a16="http://schemas.microsoft.com/office/drawing/2014/main" id="{059F62AF-1FB6-0E09-45B2-9EB4FCB562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81253A9-040A-673A-4555-D24D13BC9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63AD5D-CAD9-4756-8D14-6B1EBC9C1DCD}" type="slidenum">
              <a:rPr lang="en-IN" smtClean="0"/>
              <a:t>‹#›</a:t>
            </a:fld>
            <a:endParaRPr lang="en-IN"/>
          </a:p>
        </p:txBody>
      </p:sp>
    </p:spTree>
    <p:extLst>
      <p:ext uri="{BB962C8B-B14F-4D97-AF65-F5344CB8AC3E}">
        <p14:creationId xmlns:p14="http://schemas.microsoft.com/office/powerpoint/2010/main" val="1132229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BA85-7B22-CC2E-4947-EFD4AF3DEFD4}"/>
              </a:ext>
            </a:extLst>
          </p:cNvPr>
          <p:cNvSpPr>
            <a:spLocks noGrp="1"/>
          </p:cNvSpPr>
          <p:nvPr>
            <p:ph type="ctrTitle"/>
          </p:nvPr>
        </p:nvSpPr>
        <p:spPr/>
        <p:txBody>
          <a:bodyPr>
            <a:normAutofit fontScale="90000"/>
          </a:bodyPr>
          <a:lstStyle/>
          <a:p>
            <a:r>
              <a:rPr lang="en-US" dirty="0"/>
              <a:t>Persistent Volumes </a:t>
            </a:r>
            <a:br>
              <a:rPr lang="en-US" dirty="0"/>
            </a:br>
            <a:r>
              <a:rPr lang="en-US" dirty="0"/>
              <a:t>and </a:t>
            </a:r>
            <a:br>
              <a:rPr lang="en-US" dirty="0"/>
            </a:br>
            <a:r>
              <a:rPr lang="en-US" dirty="0"/>
              <a:t>Claims</a:t>
            </a:r>
            <a:endParaRPr lang="en-IN" dirty="0"/>
          </a:p>
        </p:txBody>
      </p:sp>
      <p:pic>
        <p:nvPicPr>
          <p:cNvPr id="1026" name="Picture 2" descr="Getting started with Azure Kubernetes Service (AKS) | Rafay">
            <a:extLst>
              <a:ext uri="{FF2B5EF4-FFF2-40B4-BE49-F238E27FC236}">
                <a16:creationId xmlns:a16="http://schemas.microsoft.com/office/drawing/2014/main" id="{15A4FA85-C20B-8BA7-F7F2-7D6596EEC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1213" y="3939868"/>
            <a:ext cx="4729573" cy="2475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785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FFACA-A99E-7EC3-D63C-3A3F295CFFDE}"/>
              </a:ext>
            </a:extLst>
          </p:cNvPr>
          <p:cNvSpPr>
            <a:spLocks noGrp="1"/>
          </p:cNvSpPr>
          <p:nvPr>
            <p:ph type="title"/>
          </p:nvPr>
        </p:nvSpPr>
        <p:spPr>
          <a:xfrm>
            <a:off x="375863" y="-241050"/>
            <a:ext cx="10515600" cy="1325563"/>
          </a:xfrm>
        </p:spPr>
        <p:txBody>
          <a:bodyPr/>
          <a:lstStyle/>
          <a:p>
            <a:r>
              <a:rPr lang="en-US" dirty="0"/>
              <a:t>Imagine a Scenario……..</a:t>
            </a:r>
            <a:endParaRPr lang="en-IN" dirty="0"/>
          </a:p>
        </p:txBody>
      </p:sp>
      <p:pic>
        <p:nvPicPr>
          <p:cNvPr id="2050" name="Picture 2" descr="RAG_with_PVC">
            <a:extLst>
              <a:ext uri="{FF2B5EF4-FFF2-40B4-BE49-F238E27FC236}">
                <a16:creationId xmlns:a16="http://schemas.microsoft.com/office/drawing/2014/main" id="{28BF6851-30D6-9BDA-327E-42397FE74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7102" y="261114"/>
            <a:ext cx="5630130" cy="31678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C9F9B30-379B-7D20-44B0-26443ACE0D2F}"/>
              </a:ext>
            </a:extLst>
          </p:cNvPr>
          <p:cNvSpPr txBox="1"/>
          <p:nvPr/>
        </p:nvSpPr>
        <p:spPr>
          <a:xfrm>
            <a:off x="274833" y="834090"/>
            <a:ext cx="5530065" cy="369331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IN" b="1" dirty="0"/>
              <a:t>🎯 Imagine this:</a:t>
            </a:r>
            <a:r>
              <a:rPr lang="en-IN" dirty="0"/>
              <a:t> You’re building a powerful </a:t>
            </a:r>
            <a:r>
              <a:rPr lang="en-IN" b="1" dirty="0"/>
              <a:t>AI chatbot for enterprise search</a:t>
            </a:r>
            <a:r>
              <a:rPr lang="en-IN" dirty="0"/>
              <a:t> using a </a:t>
            </a:r>
            <a:r>
              <a:rPr lang="en-IN" b="1" dirty="0"/>
              <a:t>RAG pipeline</a:t>
            </a:r>
            <a:r>
              <a:rPr lang="en-IN" dirty="0"/>
              <a:t> on </a:t>
            </a:r>
            <a:r>
              <a:rPr lang="en-IN" b="1" dirty="0"/>
              <a:t>Azure Kubernetes Service</a:t>
            </a:r>
            <a:r>
              <a:rPr lang="en-IN" dirty="0"/>
              <a:t>.</a:t>
            </a:r>
          </a:p>
          <a:p>
            <a:pPr>
              <a:buNone/>
            </a:pPr>
            <a:r>
              <a:rPr lang="en-IN" dirty="0"/>
              <a:t>Your pipeline includes:</a:t>
            </a:r>
          </a:p>
          <a:p>
            <a:pPr>
              <a:buFont typeface="Arial" panose="020B0604020202020204" pitchFamily="34" charset="0"/>
              <a:buChar char="•"/>
            </a:pPr>
            <a:r>
              <a:rPr lang="en-IN" dirty="0"/>
              <a:t>🔍 A document ingestion service (PDFs, DOCX, emails)</a:t>
            </a:r>
          </a:p>
          <a:p>
            <a:pPr>
              <a:buFont typeface="Arial" panose="020B0604020202020204" pitchFamily="34" charset="0"/>
              <a:buChar char="•"/>
            </a:pPr>
            <a:r>
              <a:rPr lang="en-IN" dirty="0"/>
              <a:t>🧬 An embedding service that converts text to vectors</a:t>
            </a:r>
          </a:p>
          <a:p>
            <a:pPr>
              <a:buFont typeface="Arial" panose="020B0604020202020204" pitchFamily="34" charset="0"/>
              <a:buChar char="•"/>
            </a:pPr>
            <a:r>
              <a:rPr lang="en-IN" dirty="0"/>
              <a:t>📦 A vector database like </a:t>
            </a:r>
            <a:r>
              <a:rPr lang="en-IN" b="1" dirty="0" err="1"/>
              <a:t>Qdrant</a:t>
            </a:r>
            <a:r>
              <a:rPr lang="en-IN" dirty="0"/>
              <a:t>, </a:t>
            </a:r>
            <a:r>
              <a:rPr lang="en-IN" b="1" dirty="0" err="1"/>
              <a:t>Weaviate</a:t>
            </a:r>
            <a:r>
              <a:rPr lang="en-IN" dirty="0"/>
              <a:t>, or </a:t>
            </a:r>
            <a:r>
              <a:rPr lang="en-IN" b="1" dirty="0"/>
              <a:t>FAISS</a:t>
            </a:r>
            <a:endParaRPr lang="en-IN" dirty="0"/>
          </a:p>
          <a:p>
            <a:pPr>
              <a:buFont typeface="Arial" panose="020B0604020202020204" pitchFamily="34" charset="0"/>
              <a:buChar char="•"/>
            </a:pPr>
            <a:r>
              <a:rPr lang="en-IN" dirty="0"/>
              <a:t>💬 A fast LLM service that responds to user queries</a:t>
            </a:r>
          </a:p>
          <a:p>
            <a:pPr>
              <a:buNone/>
            </a:pPr>
            <a:r>
              <a:rPr lang="en-IN" dirty="0"/>
              <a:t>Everything is containerized and running smoothly on AKS.</a:t>
            </a:r>
          </a:p>
        </p:txBody>
      </p:sp>
      <p:sp>
        <p:nvSpPr>
          <p:cNvPr id="7" name="TextBox 6">
            <a:extLst>
              <a:ext uri="{FF2B5EF4-FFF2-40B4-BE49-F238E27FC236}">
                <a16:creationId xmlns:a16="http://schemas.microsoft.com/office/drawing/2014/main" id="{ED5C848B-1889-78C9-DC38-3B7552D83CB2}"/>
              </a:ext>
            </a:extLst>
          </p:cNvPr>
          <p:cNvSpPr txBox="1"/>
          <p:nvPr/>
        </p:nvSpPr>
        <p:spPr>
          <a:xfrm>
            <a:off x="470152" y="4725386"/>
            <a:ext cx="5163511"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dirty="0"/>
              <a:t>But here's the catch...</a:t>
            </a:r>
          </a:p>
          <a:p>
            <a:pPr>
              <a:buNone/>
            </a:pPr>
            <a:r>
              <a:rPr lang="en-US" dirty="0"/>
              <a:t>Whenever your pods restart — especially your </a:t>
            </a:r>
            <a:r>
              <a:rPr lang="en-US" b="1" dirty="0"/>
              <a:t>vector database</a:t>
            </a:r>
            <a:r>
              <a:rPr lang="en-US" dirty="0"/>
              <a:t> — your embeddings and indexed documents </a:t>
            </a:r>
            <a:r>
              <a:rPr lang="en-US" b="1" dirty="0"/>
              <a:t>disappear</a:t>
            </a:r>
            <a:r>
              <a:rPr lang="en-US" dirty="0"/>
              <a:t>. That’s because containers are </a:t>
            </a:r>
            <a:r>
              <a:rPr lang="en-US" b="1" dirty="0"/>
              <a:t>ephemeral</a:t>
            </a:r>
            <a:r>
              <a:rPr lang="en-US" dirty="0"/>
              <a:t>. They lose their file system state unless you persist it somewhere.</a:t>
            </a:r>
          </a:p>
        </p:txBody>
      </p:sp>
      <p:sp>
        <p:nvSpPr>
          <p:cNvPr id="9" name="TextBox 8">
            <a:extLst>
              <a:ext uri="{FF2B5EF4-FFF2-40B4-BE49-F238E27FC236}">
                <a16:creationId xmlns:a16="http://schemas.microsoft.com/office/drawing/2014/main" id="{350D124C-F31B-F6EB-1996-C945C7B539F6}"/>
              </a:ext>
            </a:extLst>
          </p:cNvPr>
          <p:cNvSpPr txBox="1"/>
          <p:nvPr/>
        </p:nvSpPr>
        <p:spPr>
          <a:xfrm>
            <a:off x="6069779" y="4111546"/>
            <a:ext cx="5947453"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b="1" dirty="0"/>
              <a:t>This is where PVCs save the day.</a:t>
            </a:r>
            <a:endParaRPr lang="en-US" dirty="0"/>
          </a:p>
          <a:p>
            <a:pPr>
              <a:buNone/>
            </a:pPr>
            <a:r>
              <a:rPr lang="en-US" dirty="0"/>
              <a:t>You attach a </a:t>
            </a:r>
            <a:r>
              <a:rPr lang="en-US" b="1" dirty="0"/>
              <a:t>Persistent Volume Claim</a:t>
            </a:r>
            <a:r>
              <a:rPr lang="en-US" dirty="0"/>
              <a:t> to your vector database pod, which mounts Azure Disks or Azure Files as reliable, cloud-based storage. Now:</a:t>
            </a:r>
          </a:p>
          <a:p>
            <a:pPr>
              <a:buFont typeface="Arial" panose="020B0604020202020204" pitchFamily="34" charset="0"/>
              <a:buChar char="•"/>
            </a:pPr>
            <a:r>
              <a:rPr lang="en-US" dirty="0"/>
              <a:t>Even if the pod crashes or is rescheduled, the </a:t>
            </a:r>
            <a:r>
              <a:rPr lang="en-US" b="1" dirty="0"/>
              <a:t>indexed vectors stay safe</a:t>
            </a:r>
            <a:endParaRPr lang="en-US" dirty="0"/>
          </a:p>
          <a:p>
            <a:pPr>
              <a:buFont typeface="Arial" panose="020B0604020202020204" pitchFamily="34" charset="0"/>
              <a:buChar char="•"/>
            </a:pPr>
            <a:r>
              <a:rPr lang="en-US" dirty="0"/>
              <a:t>Your pipeline doesn’t need to </a:t>
            </a:r>
            <a:r>
              <a:rPr lang="en-US" b="1" dirty="0"/>
              <a:t>recalculate embeddings</a:t>
            </a:r>
            <a:endParaRPr lang="en-US" dirty="0"/>
          </a:p>
          <a:p>
            <a:pPr>
              <a:buFont typeface="Arial" panose="020B0604020202020204" pitchFamily="34" charset="0"/>
              <a:buChar char="•"/>
            </a:pPr>
            <a:r>
              <a:rPr lang="en-US" dirty="0"/>
              <a:t>Query latency stays low, and you don’t lose hours of processing</a:t>
            </a:r>
          </a:p>
        </p:txBody>
      </p:sp>
    </p:spTree>
    <p:extLst>
      <p:ext uri="{BB962C8B-B14F-4D97-AF65-F5344CB8AC3E}">
        <p14:creationId xmlns:p14="http://schemas.microsoft.com/office/powerpoint/2010/main" val="3082669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8B50F-8476-92C4-D4A9-084AEEE26590}"/>
              </a:ext>
            </a:extLst>
          </p:cNvPr>
          <p:cNvSpPr>
            <a:spLocks noGrp="1"/>
          </p:cNvSpPr>
          <p:nvPr>
            <p:ph type="title"/>
          </p:nvPr>
        </p:nvSpPr>
        <p:spPr>
          <a:xfrm>
            <a:off x="1002587" y="-158857"/>
            <a:ext cx="11189413" cy="1325563"/>
          </a:xfrm>
        </p:spPr>
        <p:txBody>
          <a:bodyPr>
            <a:normAutofit/>
          </a:bodyPr>
          <a:lstStyle/>
          <a:p>
            <a:r>
              <a:rPr lang="en-US" sz="3200" dirty="0"/>
              <a:t>PVs (Persistent Volumes) and PVCs (Persistent Volume Claims)</a:t>
            </a:r>
            <a:endParaRPr lang="en-IN" sz="3200" dirty="0"/>
          </a:p>
        </p:txBody>
      </p:sp>
      <p:pic>
        <p:nvPicPr>
          <p:cNvPr id="3074" name="Picture 2" descr="How to create PV and PVC in Kubernetes - NashTech Blog">
            <a:extLst>
              <a:ext uri="{FF2B5EF4-FFF2-40B4-BE49-F238E27FC236}">
                <a16:creationId xmlns:a16="http://schemas.microsoft.com/office/drawing/2014/main" id="{0CBEF983-1540-DB01-D70E-FAD4E384F5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18769" y="2060557"/>
            <a:ext cx="5370489" cy="342152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376676F-E097-1107-F3B7-5370BE1D75B0}"/>
              </a:ext>
            </a:extLst>
          </p:cNvPr>
          <p:cNvSpPr txBox="1"/>
          <p:nvPr/>
        </p:nvSpPr>
        <p:spPr>
          <a:xfrm>
            <a:off x="264560" y="1397957"/>
            <a:ext cx="6097712" cy="9233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A </a:t>
            </a:r>
            <a:r>
              <a:rPr lang="en-US" b="1" dirty="0" err="1"/>
              <a:t>PersistentVolume</a:t>
            </a:r>
            <a:r>
              <a:rPr lang="en-US" b="1" dirty="0"/>
              <a:t> (PV) </a:t>
            </a:r>
            <a:r>
              <a:rPr lang="en-US" dirty="0"/>
              <a:t>is a </a:t>
            </a:r>
            <a:r>
              <a:rPr lang="en-US" b="1" dirty="0"/>
              <a:t>piece of storage </a:t>
            </a:r>
            <a:r>
              <a:rPr lang="en-US" dirty="0"/>
              <a:t>in the cluster that has been provisioned by an administrator or dynamically provisioned using </a:t>
            </a:r>
            <a:r>
              <a:rPr lang="en-US" b="1" dirty="0"/>
              <a:t>Storage Classes. </a:t>
            </a:r>
            <a:endParaRPr lang="en-IN" b="1" dirty="0"/>
          </a:p>
        </p:txBody>
      </p:sp>
      <p:sp>
        <p:nvSpPr>
          <p:cNvPr id="15" name="TextBox 14">
            <a:extLst>
              <a:ext uri="{FF2B5EF4-FFF2-40B4-BE49-F238E27FC236}">
                <a16:creationId xmlns:a16="http://schemas.microsoft.com/office/drawing/2014/main" id="{95C10F28-ADCB-931E-D334-EE57E1475874}"/>
              </a:ext>
            </a:extLst>
          </p:cNvPr>
          <p:cNvSpPr txBox="1"/>
          <p:nvPr/>
        </p:nvSpPr>
        <p:spPr>
          <a:xfrm>
            <a:off x="264560" y="3414997"/>
            <a:ext cx="609771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 </a:t>
            </a:r>
            <a:r>
              <a:rPr lang="en-US" b="1" dirty="0" err="1"/>
              <a:t>PersistentVolumeClaim</a:t>
            </a:r>
            <a:r>
              <a:rPr lang="en-US" b="1" dirty="0"/>
              <a:t> (PVC</a:t>
            </a:r>
            <a:r>
              <a:rPr lang="en-US" dirty="0"/>
              <a:t>) is a </a:t>
            </a:r>
            <a:r>
              <a:rPr lang="en-US" b="1" dirty="0"/>
              <a:t>request for storage </a:t>
            </a:r>
            <a:r>
              <a:rPr lang="en-US" dirty="0"/>
              <a:t>by a user. It is similar to a Pod. Pods consume node resources and </a:t>
            </a:r>
            <a:r>
              <a:rPr lang="en-US" b="1" dirty="0"/>
              <a:t>PVCs consume PV resources</a:t>
            </a:r>
            <a:r>
              <a:rPr lang="en-US" dirty="0"/>
              <a:t>.</a:t>
            </a:r>
            <a:endParaRPr lang="en-IN" dirty="0"/>
          </a:p>
        </p:txBody>
      </p:sp>
      <p:sp>
        <p:nvSpPr>
          <p:cNvPr id="19" name="TextBox 18">
            <a:extLst>
              <a:ext uri="{FF2B5EF4-FFF2-40B4-BE49-F238E27FC236}">
                <a16:creationId xmlns:a16="http://schemas.microsoft.com/office/drawing/2014/main" id="{EDCFB026-9CAA-FE4A-2DFB-CD48ED193EFD}"/>
              </a:ext>
            </a:extLst>
          </p:cNvPr>
          <p:cNvSpPr txBox="1"/>
          <p:nvPr/>
        </p:nvSpPr>
        <p:spPr>
          <a:xfrm>
            <a:off x="264560" y="5230622"/>
            <a:ext cx="6097712"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Cluster administrators need to be able to offer a variety of </a:t>
            </a:r>
            <a:r>
              <a:rPr lang="en-US" dirty="0" err="1"/>
              <a:t>PersistentVolumes</a:t>
            </a:r>
            <a:r>
              <a:rPr lang="en-US" dirty="0"/>
              <a:t> that differ in more ways than size and access modes, without exposing users to the details of how those volumes are implemented. For these needs, there is the </a:t>
            </a:r>
            <a:r>
              <a:rPr lang="en-US" dirty="0" err="1"/>
              <a:t>StorageClass</a:t>
            </a:r>
            <a:r>
              <a:rPr lang="en-US" dirty="0"/>
              <a:t> resource.</a:t>
            </a:r>
            <a:endParaRPr lang="en-IN" dirty="0"/>
          </a:p>
        </p:txBody>
      </p:sp>
    </p:spTree>
    <p:extLst>
      <p:ext uri="{BB962C8B-B14F-4D97-AF65-F5344CB8AC3E}">
        <p14:creationId xmlns:p14="http://schemas.microsoft.com/office/powerpoint/2010/main" val="2185984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21D8-7461-582A-87B1-5E96262F94EC}"/>
              </a:ext>
            </a:extLst>
          </p:cNvPr>
          <p:cNvSpPr>
            <a:spLocks noGrp="1"/>
          </p:cNvSpPr>
          <p:nvPr>
            <p:ph type="title"/>
          </p:nvPr>
        </p:nvSpPr>
        <p:spPr>
          <a:xfrm>
            <a:off x="838200" y="-189679"/>
            <a:ext cx="10515600" cy="1325563"/>
          </a:xfrm>
        </p:spPr>
        <p:txBody>
          <a:bodyPr/>
          <a:lstStyle/>
          <a:p>
            <a:pPr algn="ctr"/>
            <a:r>
              <a:rPr lang="en-US" dirty="0"/>
              <a:t>Lifecycle of a Volume and a Claim  </a:t>
            </a:r>
            <a:endParaRPr lang="en-IN" dirty="0"/>
          </a:p>
        </p:txBody>
      </p:sp>
      <p:pic>
        <p:nvPicPr>
          <p:cNvPr id="4100" name="Picture 4" descr="Dynamically Provisioning Persistent Volumes with Kubernetes | Rafay">
            <a:extLst>
              <a:ext uri="{FF2B5EF4-FFF2-40B4-BE49-F238E27FC236}">
                <a16:creationId xmlns:a16="http://schemas.microsoft.com/office/drawing/2014/main" id="{3BDC3B01-DDB2-C6CD-60CA-8CCED6B676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410" y="3087301"/>
            <a:ext cx="7959047" cy="370282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EB88041-C231-3447-E8F2-95B71B5796F1}"/>
              </a:ext>
            </a:extLst>
          </p:cNvPr>
          <p:cNvSpPr txBox="1"/>
          <p:nvPr/>
        </p:nvSpPr>
        <p:spPr>
          <a:xfrm>
            <a:off x="110447" y="1135884"/>
            <a:ext cx="6097712"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Static Provisioning</a:t>
            </a:r>
            <a:r>
              <a:rPr lang="en-US" dirty="0"/>
              <a:t>: A cluster administrator creates a </a:t>
            </a:r>
            <a:r>
              <a:rPr lang="en-US" b="1" dirty="0"/>
              <a:t>number of PVs</a:t>
            </a:r>
            <a:r>
              <a:rPr lang="en-US" dirty="0"/>
              <a:t>. They carry the details of the real storage, which is available for use by cluster users. They exist in the </a:t>
            </a:r>
            <a:r>
              <a:rPr lang="en-US" b="1" dirty="0"/>
              <a:t>Kubernetes API </a:t>
            </a:r>
            <a:r>
              <a:rPr lang="en-US" dirty="0"/>
              <a:t>and are </a:t>
            </a:r>
            <a:r>
              <a:rPr lang="en-US" b="1" dirty="0"/>
              <a:t>available for consumption</a:t>
            </a:r>
            <a:endParaRPr lang="en-IN" b="1" dirty="0"/>
          </a:p>
        </p:txBody>
      </p:sp>
      <p:sp>
        <p:nvSpPr>
          <p:cNvPr id="15" name="TextBox 14">
            <a:extLst>
              <a:ext uri="{FF2B5EF4-FFF2-40B4-BE49-F238E27FC236}">
                <a16:creationId xmlns:a16="http://schemas.microsoft.com/office/drawing/2014/main" id="{8F8152CF-9274-8B38-D2EE-16DD9250BE62}"/>
              </a:ext>
            </a:extLst>
          </p:cNvPr>
          <p:cNvSpPr txBox="1"/>
          <p:nvPr/>
        </p:nvSpPr>
        <p:spPr>
          <a:xfrm>
            <a:off x="6377683" y="1135884"/>
            <a:ext cx="5703870"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Dynamic Provisioning</a:t>
            </a:r>
            <a:r>
              <a:rPr lang="en-US" dirty="0"/>
              <a:t>: When none of the static PVs the administrator created match a user's </a:t>
            </a:r>
            <a:r>
              <a:rPr lang="en-US" dirty="0" err="1"/>
              <a:t>PersistentVolumeClaim</a:t>
            </a:r>
            <a:r>
              <a:rPr lang="en-US" dirty="0"/>
              <a:t>, the cluster may try to </a:t>
            </a:r>
            <a:r>
              <a:rPr lang="en-US" b="1" dirty="0"/>
              <a:t>dynamically provision a volume </a:t>
            </a:r>
            <a:r>
              <a:rPr lang="en-US" dirty="0"/>
              <a:t>specially for the PVC.</a:t>
            </a:r>
            <a:endParaRPr lang="en-IN" dirty="0"/>
          </a:p>
        </p:txBody>
      </p:sp>
    </p:spTree>
    <p:extLst>
      <p:ext uri="{BB962C8B-B14F-4D97-AF65-F5344CB8AC3E}">
        <p14:creationId xmlns:p14="http://schemas.microsoft.com/office/powerpoint/2010/main" val="4104263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EB52-483F-0721-DDA9-55A2D9550071}"/>
              </a:ext>
            </a:extLst>
          </p:cNvPr>
          <p:cNvSpPr>
            <a:spLocks noGrp="1"/>
          </p:cNvSpPr>
          <p:nvPr>
            <p:ph type="title"/>
          </p:nvPr>
        </p:nvSpPr>
        <p:spPr>
          <a:xfrm>
            <a:off x="1023135" y="-138309"/>
            <a:ext cx="10515600" cy="1325563"/>
          </a:xfrm>
        </p:spPr>
        <p:txBody>
          <a:bodyPr/>
          <a:lstStyle/>
          <a:p>
            <a:pPr algn="ctr"/>
            <a:r>
              <a:rPr lang="en-US" dirty="0"/>
              <a:t>Binding Operations for PVs and PVCs</a:t>
            </a:r>
            <a:endParaRPr lang="en-IN" dirty="0"/>
          </a:p>
        </p:txBody>
      </p:sp>
      <p:pic>
        <p:nvPicPr>
          <p:cNvPr id="5122" name="Picture 2" descr="K8s Storage class, PV, and PVC. Kubernetes provides several mechanisms… |  by Park Sehun | Medium">
            <a:extLst>
              <a:ext uri="{FF2B5EF4-FFF2-40B4-BE49-F238E27FC236}">
                <a16:creationId xmlns:a16="http://schemas.microsoft.com/office/drawing/2014/main" id="{FABE131A-9713-1738-CFCA-CC49462CE7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68438" y="1530849"/>
            <a:ext cx="5640339" cy="31747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FC2A5DE-2896-B3E4-B761-24636100BBE4}"/>
              </a:ext>
            </a:extLst>
          </p:cNvPr>
          <p:cNvSpPr txBox="1"/>
          <p:nvPr/>
        </p:nvSpPr>
        <p:spPr>
          <a:xfrm>
            <a:off x="183223" y="1187254"/>
            <a:ext cx="6097712"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dirty="0"/>
              <a:t>In Kubernetes, </a:t>
            </a:r>
            <a:r>
              <a:rPr lang="en-US" b="1" dirty="0"/>
              <a:t>PVC</a:t>
            </a:r>
            <a:r>
              <a:rPr lang="en-US" dirty="0"/>
              <a:t> is what your app requests, and </a:t>
            </a:r>
            <a:r>
              <a:rPr lang="en-US" b="1" dirty="0"/>
              <a:t>PV</a:t>
            </a:r>
            <a:r>
              <a:rPr lang="en-US" dirty="0"/>
              <a:t> is the actual storage resource available in the cluster. Think of it like this:</a:t>
            </a:r>
          </a:p>
          <a:p>
            <a:pPr>
              <a:buFont typeface="Arial" panose="020B0604020202020204" pitchFamily="34" charset="0"/>
              <a:buChar char="•"/>
            </a:pPr>
            <a:r>
              <a:rPr lang="en-US" b="1" dirty="0"/>
              <a:t>PVC</a:t>
            </a:r>
            <a:r>
              <a:rPr lang="en-US" dirty="0"/>
              <a:t> = “I need 10Gi of storage that’s </a:t>
            </a:r>
            <a:r>
              <a:rPr lang="en-US" dirty="0" err="1"/>
              <a:t>ReadWriteOnce</a:t>
            </a:r>
            <a:r>
              <a:rPr lang="en-US" dirty="0"/>
              <a:t>”</a:t>
            </a:r>
          </a:p>
          <a:p>
            <a:pPr>
              <a:buFont typeface="Arial" panose="020B0604020202020204" pitchFamily="34" charset="0"/>
              <a:buChar char="•"/>
            </a:pPr>
            <a:r>
              <a:rPr lang="en-US" b="1" dirty="0"/>
              <a:t>PV</a:t>
            </a:r>
            <a:r>
              <a:rPr lang="en-US" dirty="0"/>
              <a:t> = “Here’s a 10Gi Azure Disk that supports </a:t>
            </a:r>
            <a:r>
              <a:rPr lang="en-US" dirty="0" err="1"/>
              <a:t>ReadWriteOnce</a:t>
            </a:r>
            <a:r>
              <a:rPr lang="en-US" dirty="0"/>
              <a:t>”</a:t>
            </a:r>
          </a:p>
          <a:p>
            <a:pPr>
              <a:buNone/>
            </a:pPr>
            <a:r>
              <a:rPr lang="en-US" dirty="0"/>
              <a:t>Kubernetes automatically finds a match and </a:t>
            </a:r>
            <a:r>
              <a:rPr lang="en-US" b="1" dirty="0"/>
              <a:t>binds the PVC to the PV</a:t>
            </a:r>
            <a:r>
              <a:rPr lang="en-US" dirty="0"/>
              <a:t>.</a:t>
            </a:r>
          </a:p>
        </p:txBody>
      </p:sp>
      <p:sp>
        <p:nvSpPr>
          <p:cNvPr id="9" name="TextBox 8">
            <a:extLst>
              <a:ext uri="{FF2B5EF4-FFF2-40B4-BE49-F238E27FC236}">
                <a16:creationId xmlns:a16="http://schemas.microsoft.com/office/drawing/2014/main" id="{B28BF2F8-EE0C-3597-269B-2914A692E505}"/>
              </a:ext>
            </a:extLst>
          </p:cNvPr>
          <p:cNvSpPr txBox="1"/>
          <p:nvPr/>
        </p:nvSpPr>
        <p:spPr>
          <a:xfrm>
            <a:off x="183223" y="3869488"/>
            <a:ext cx="6097712" cy="258532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A </a:t>
            </a:r>
            <a:r>
              <a:rPr lang="en-US" b="1" dirty="0"/>
              <a:t>control loop </a:t>
            </a:r>
            <a:r>
              <a:rPr lang="en-US" dirty="0"/>
              <a:t>in the control plane watches for </a:t>
            </a:r>
            <a:r>
              <a:rPr lang="en-US" b="1" dirty="0"/>
              <a:t>new PVCs</a:t>
            </a:r>
            <a:r>
              <a:rPr lang="en-US" dirty="0"/>
              <a:t>, finds a matching PV (if possible), and </a:t>
            </a:r>
            <a:r>
              <a:rPr lang="en-US" b="1" dirty="0"/>
              <a:t>binds them together</a:t>
            </a:r>
            <a:r>
              <a:rPr lang="en-US" dirty="0"/>
              <a:t>.</a:t>
            </a:r>
          </a:p>
          <a:p>
            <a:endParaRPr lang="en-US" dirty="0"/>
          </a:p>
          <a:p>
            <a:r>
              <a:rPr lang="en-US" dirty="0"/>
              <a:t> If a PV was dynamically provisioned for a new PVC, the loop will always bind that PV to the PVC. </a:t>
            </a:r>
          </a:p>
          <a:p>
            <a:endParaRPr lang="en-US" dirty="0"/>
          </a:p>
          <a:p>
            <a:r>
              <a:rPr lang="en-US" dirty="0"/>
              <a:t>Otherwise, the user </a:t>
            </a:r>
            <a:r>
              <a:rPr lang="en-US" b="1" dirty="0"/>
              <a:t>will always get at least what they asked </a:t>
            </a:r>
            <a:r>
              <a:rPr lang="en-US" dirty="0"/>
              <a:t>for, but </a:t>
            </a:r>
            <a:r>
              <a:rPr lang="en-US" b="1" dirty="0"/>
              <a:t>the volume may be in excess of what was requested. </a:t>
            </a:r>
            <a:endParaRPr lang="en-IN" b="1" dirty="0"/>
          </a:p>
        </p:txBody>
      </p:sp>
      <p:sp>
        <p:nvSpPr>
          <p:cNvPr id="11" name="TextBox 10">
            <a:extLst>
              <a:ext uri="{FF2B5EF4-FFF2-40B4-BE49-F238E27FC236}">
                <a16:creationId xmlns:a16="http://schemas.microsoft.com/office/drawing/2014/main" id="{4CCF9D0D-F3E7-7A44-61C3-57A9FCE696AA}"/>
              </a:ext>
            </a:extLst>
          </p:cNvPr>
          <p:cNvSpPr txBox="1"/>
          <p:nvPr/>
        </p:nvSpPr>
        <p:spPr>
          <a:xfrm>
            <a:off x="6669640" y="5322013"/>
            <a:ext cx="5339137" cy="37987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222222"/>
                </a:solidFill>
                <a:effectLst/>
                <a:latin typeface="open sans" panose="020B0606030504020204" pitchFamily="34" charset="0"/>
              </a:rPr>
              <a:t>A PVC to PV binding is a </a:t>
            </a:r>
            <a:r>
              <a:rPr lang="en-US" b="1" i="0" dirty="0">
                <a:solidFill>
                  <a:srgbClr val="222222"/>
                </a:solidFill>
                <a:effectLst/>
                <a:latin typeface="open sans" panose="020B0606030504020204" pitchFamily="34" charset="0"/>
              </a:rPr>
              <a:t>one-to-one mapping</a:t>
            </a:r>
            <a:r>
              <a:rPr lang="en-US" b="0" i="0" dirty="0">
                <a:solidFill>
                  <a:srgbClr val="222222"/>
                </a:solidFill>
                <a:effectLst/>
                <a:latin typeface="open sans" panose="020B0606030504020204" pitchFamily="34" charset="0"/>
              </a:rPr>
              <a:t>,</a:t>
            </a:r>
            <a:endParaRPr lang="en-IN" dirty="0"/>
          </a:p>
        </p:txBody>
      </p:sp>
    </p:spTree>
    <p:extLst>
      <p:ext uri="{BB962C8B-B14F-4D97-AF65-F5344CB8AC3E}">
        <p14:creationId xmlns:p14="http://schemas.microsoft.com/office/powerpoint/2010/main" val="1766696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C421-60C7-801B-21EE-94E3267E5A31}"/>
              </a:ext>
            </a:extLst>
          </p:cNvPr>
          <p:cNvSpPr>
            <a:spLocks noGrp="1"/>
          </p:cNvSpPr>
          <p:nvPr>
            <p:ph type="title"/>
          </p:nvPr>
        </p:nvSpPr>
        <p:spPr>
          <a:xfrm>
            <a:off x="303945" y="0"/>
            <a:ext cx="11888055" cy="1325563"/>
          </a:xfrm>
        </p:spPr>
        <p:txBody>
          <a:bodyPr/>
          <a:lstStyle/>
          <a:p>
            <a:r>
              <a:rPr lang="en-US" dirty="0"/>
              <a:t>Container Storage Interface Classes in AKS for PVs</a:t>
            </a:r>
            <a:endParaRPr lang="en-IN" dirty="0"/>
          </a:p>
        </p:txBody>
      </p:sp>
      <p:sp>
        <p:nvSpPr>
          <p:cNvPr id="5" name="TextBox 4">
            <a:extLst>
              <a:ext uri="{FF2B5EF4-FFF2-40B4-BE49-F238E27FC236}">
                <a16:creationId xmlns:a16="http://schemas.microsoft.com/office/drawing/2014/main" id="{F5EF8030-0483-CD2C-8FD3-A5343DE463B8}"/>
              </a:ext>
            </a:extLst>
          </p:cNvPr>
          <p:cNvSpPr txBox="1"/>
          <p:nvPr/>
        </p:nvSpPr>
        <p:spPr>
          <a:xfrm>
            <a:off x="695004" y="1181725"/>
            <a:ext cx="1110593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t>In </a:t>
            </a:r>
            <a:r>
              <a:rPr lang="en-US" b="1" dirty="0"/>
              <a:t>Azure Kubernetes Service (AKS)</a:t>
            </a:r>
            <a:r>
              <a:rPr lang="en-US" dirty="0"/>
              <a:t>, </a:t>
            </a:r>
            <a:r>
              <a:rPr lang="en-US" b="1" dirty="0"/>
              <a:t>CSI (Container Storage Interface)</a:t>
            </a:r>
            <a:r>
              <a:rPr lang="en-US" dirty="0"/>
              <a:t> classes refer to </a:t>
            </a:r>
            <a:r>
              <a:rPr lang="en-US" b="1" dirty="0"/>
              <a:t>drivers that enable Kubernetes to dynamically provision and manage storage on Azure</a:t>
            </a:r>
            <a:r>
              <a:rPr lang="en-US" dirty="0"/>
              <a:t>.</a:t>
            </a:r>
            <a:endParaRPr lang="en-IN" dirty="0"/>
          </a:p>
        </p:txBody>
      </p:sp>
      <p:pic>
        <p:nvPicPr>
          <p:cNvPr id="7" name="Picture 6">
            <a:extLst>
              <a:ext uri="{FF2B5EF4-FFF2-40B4-BE49-F238E27FC236}">
                <a16:creationId xmlns:a16="http://schemas.microsoft.com/office/drawing/2014/main" id="{2AAB15EA-23A4-B60D-D8A1-B0508C97B9C5}"/>
              </a:ext>
            </a:extLst>
          </p:cNvPr>
          <p:cNvPicPr>
            <a:picLocks noChangeAspect="1"/>
          </p:cNvPicPr>
          <p:nvPr/>
        </p:nvPicPr>
        <p:blipFill>
          <a:blip r:embed="rId2"/>
          <a:stretch>
            <a:fillRect/>
          </a:stretch>
        </p:blipFill>
        <p:spPr>
          <a:xfrm>
            <a:off x="3242718" y="1922069"/>
            <a:ext cx="5757443" cy="4887058"/>
          </a:xfrm>
          <a:prstGeom prst="rect">
            <a:avLst/>
          </a:prstGeom>
        </p:spPr>
      </p:pic>
    </p:spTree>
    <p:extLst>
      <p:ext uri="{BB962C8B-B14F-4D97-AF65-F5344CB8AC3E}">
        <p14:creationId xmlns:p14="http://schemas.microsoft.com/office/powerpoint/2010/main" val="83039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C15ED-C7F3-5779-F860-FD3CADF1D1AC}"/>
              </a:ext>
            </a:extLst>
          </p:cNvPr>
          <p:cNvSpPr>
            <a:spLocks noGrp="1"/>
          </p:cNvSpPr>
          <p:nvPr>
            <p:ph type="title"/>
          </p:nvPr>
        </p:nvSpPr>
        <p:spPr>
          <a:xfrm>
            <a:off x="997545" y="-97213"/>
            <a:ext cx="10515600" cy="1325563"/>
          </a:xfrm>
        </p:spPr>
        <p:txBody>
          <a:bodyPr/>
          <a:lstStyle/>
          <a:p>
            <a:pPr algn="ctr"/>
            <a:r>
              <a:rPr lang="en-US" dirty="0"/>
              <a:t>Defining a PVC – Dynamic Provisioning</a:t>
            </a:r>
            <a:endParaRPr lang="en-IN" dirty="0"/>
          </a:p>
        </p:txBody>
      </p:sp>
      <p:pic>
        <p:nvPicPr>
          <p:cNvPr id="5" name="Content Placeholder 4">
            <a:extLst>
              <a:ext uri="{FF2B5EF4-FFF2-40B4-BE49-F238E27FC236}">
                <a16:creationId xmlns:a16="http://schemas.microsoft.com/office/drawing/2014/main" id="{1BD17E67-E7F6-79AB-4192-38E8B9CC3293}"/>
              </a:ext>
            </a:extLst>
          </p:cNvPr>
          <p:cNvPicPr>
            <a:picLocks noGrp="1" noChangeAspect="1"/>
          </p:cNvPicPr>
          <p:nvPr>
            <p:ph idx="1"/>
          </p:nvPr>
        </p:nvPicPr>
        <p:blipFill>
          <a:blip r:embed="rId2"/>
          <a:stretch>
            <a:fillRect/>
          </a:stretch>
        </p:blipFill>
        <p:spPr>
          <a:xfrm>
            <a:off x="1252250" y="1731784"/>
            <a:ext cx="9687499" cy="4609477"/>
          </a:xfrm>
        </p:spPr>
      </p:pic>
    </p:spTree>
    <p:extLst>
      <p:ext uri="{BB962C8B-B14F-4D97-AF65-F5344CB8AC3E}">
        <p14:creationId xmlns:p14="http://schemas.microsoft.com/office/powerpoint/2010/main" val="2464886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803D-A6C2-CCB1-1919-3A8BDEB64B3E}"/>
              </a:ext>
            </a:extLst>
          </p:cNvPr>
          <p:cNvSpPr>
            <a:spLocks noGrp="1"/>
          </p:cNvSpPr>
          <p:nvPr>
            <p:ph type="title"/>
          </p:nvPr>
        </p:nvSpPr>
        <p:spPr>
          <a:xfrm>
            <a:off x="982037" y="-282147"/>
            <a:ext cx="10515600" cy="1325563"/>
          </a:xfrm>
        </p:spPr>
        <p:txBody>
          <a:bodyPr/>
          <a:lstStyle/>
          <a:p>
            <a:pPr algn="ctr"/>
            <a:r>
              <a:rPr lang="en-US" dirty="0"/>
              <a:t>Using a PVC as a </a:t>
            </a:r>
            <a:r>
              <a:rPr lang="en-US" dirty="0" err="1"/>
              <a:t>VolumeMount</a:t>
            </a:r>
            <a:r>
              <a:rPr lang="en-US" dirty="0"/>
              <a:t> for a Pod</a:t>
            </a:r>
            <a:endParaRPr lang="en-IN" dirty="0"/>
          </a:p>
        </p:txBody>
      </p:sp>
      <p:pic>
        <p:nvPicPr>
          <p:cNvPr id="5" name="Content Placeholder 4">
            <a:extLst>
              <a:ext uri="{FF2B5EF4-FFF2-40B4-BE49-F238E27FC236}">
                <a16:creationId xmlns:a16="http://schemas.microsoft.com/office/drawing/2014/main" id="{1300C2A1-DED9-B264-BCDD-EE740F2EABC7}"/>
              </a:ext>
            </a:extLst>
          </p:cNvPr>
          <p:cNvPicPr>
            <a:picLocks noGrp="1" noChangeAspect="1"/>
          </p:cNvPicPr>
          <p:nvPr>
            <p:ph idx="1"/>
          </p:nvPr>
        </p:nvPicPr>
        <p:blipFill>
          <a:blip r:embed="rId2"/>
          <a:stretch>
            <a:fillRect/>
          </a:stretch>
        </p:blipFill>
        <p:spPr>
          <a:xfrm>
            <a:off x="1993187" y="814027"/>
            <a:ext cx="7794180" cy="5930957"/>
          </a:xfrm>
        </p:spPr>
      </p:pic>
    </p:spTree>
    <p:extLst>
      <p:ext uri="{BB962C8B-B14F-4D97-AF65-F5344CB8AC3E}">
        <p14:creationId xmlns:p14="http://schemas.microsoft.com/office/powerpoint/2010/main" val="2643844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E134-EFCD-3DE0-C415-C01129CAD463}"/>
              </a:ext>
            </a:extLst>
          </p:cNvPr>
          <p:cNvSpPr>
            <a:spLocks noGrp="1"/>
          </p:cNvSpPr>
          <p:nvPr>
            <p:ph type="title"/>
          </p:nvPr>
        </p:nvSpPr>
        <p:spPr>
          <a:xfrm>
            <a:off x="1012861" y="0"/>
            <a:ext cx="10515600" cy="1325563"/>
          </a:xfrm>
        </p:spPr>
        <p:txBody>
          <a:bodyPr/>
          <a:lstStyle/>
          <a:p>
            <a:pPr algn="ctr"/>
            <a:r>
              <a:rPr lang="en-US" dirty="0"/>
              <a:t>Unheard Points about PVCs and PVs</a:t>
            </a:r>
            <a:endParaRPr lang="en-IN" dirty="0"/>
          </a:p>
        </p:txBody>
      </p:sp>
      <p:sp>
        <p:nvSpPr>
          <p:cNvPr id="3" name="Content Placeholder 2">
            <a:extLst>
              <a:ext uri="{FF2B5EF4-FFF2-40B4-BE49-F238E27FC236}">
                <a16:creationId xmlns:a16="http://schemas.microsoft.com/office/drawing/2014/main" id="{679143C0-DC70-97DE-5951-1E2CA54B2638}"/>
              </a:ext>
            </a:extLst>
          </p:cNvPr>
          <p:cNvSpPr>
            <a:spLocks noGrp="1"/>
          </p:cNvSpPr>
          <p:nvPr>
            <p:ph idx="1"/>
          </p:nvPr>
        </p:nvSpPr>
        <p:spPr>
          <a:xfrm>
            <a:off x="838200" y="2020834"/>
            <a:ext cx="10515600" cy="4351338"/>
          </a:xfrm>
        </p:spPr>
        <p:txBody>
          <a:bodyPr/>
          <a:lstStyle/>
          <a:p>
            <a:r>
              <a:rPr lang="en-US" dirty="0"/>
              <a:t>A Single PVC can bind to a single PV. Although multiple pods could use a single PVC as a mode to read and write data to the PV if the policy is set to [“ReadWriteMany”]</a:t>
            </a:r>
          </a:p>
          <a:p>
            <a:endParaRPr lang="en-IN" dirty="0"/>
          </a:p>
          <a:p>
            <a:r>
              <a:rPr lang="en-IN" dirty="0"/>
              <a:t>If a PVC is deleted then the PV stays but it cannot be consumed by other PVCs or different sets of PVCs without manual intervention of cleaning the data in the PVs due to “retain” policy configuration; its done this way for safety and security purposes.</a:t>
            </a:r>
          </a:p>
          <a:p>
            <a:endParaRPr lang="en-IN" dirty="0"/>
          </a:p>
          <a:p>
            <a:endParaRPr lang="en-US" dirty="0"/>
          </a:p>
        </p:txBody>
      </p:sp>
    </p:spTree>
    <p:extLst>
      <p:ext uri="{BB962C8B-B14F-4D97-AF65-F5344CB8AC3E}">
        <p14:creationId xmlns:p14="http://schemas.microsoft.com/office/powerpoint/2010/main" val="86985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690</Words>
  <Application>Microsoft Office PowerPoint</Application>
  <PresentationFormat>Widescreen</PresentationFormat>
  <Paragraphs>42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open sans</vt:lpstr>
      <vt:lpstr>Office Theme</vt:lpstr>
      <vt:lpstr>Persistent Volumes  and  Claims</vt:lpstr>
      <vt:lpstr>Imagine a Scenario……..</vt:lpstr>
      <vt:lpstr>PVs (Persistent Volumes) and PVCs (Persistent Volume Claims)</vt:lpstr>
      <vt:lpstr>Lifecycle of a Volume and a Claim  </vt:lpstr>
      <vt:lpstr>Binding Operations for PVs and PVCs</vt:lpstr>
      <vt:lpstr>Container Storage Interface Classes in AKS for PVs</vt:lpstr>
      <vt:lpstr>Defining a PVC – Dynamic Provisioning</vt:lpstr>
      <vt:lpstr>Using a PVC as a VolumeMount for a Pod</vt:lpstr>
      <vt:lpstr>Unheard Points about PVCs and PVs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2025-07-22T19:08:09Z</dcterms:created>
  <dcterms:modified xsi:type="dcterms:W3CDTF">2025-07-22T19:52:21Z</dcterms:modified>
</cp:coreProperties>
</file>