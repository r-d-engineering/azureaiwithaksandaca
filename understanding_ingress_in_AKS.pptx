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B26CA-4D83-4B22-438F-AB01F86B1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6B0BE-309E-2A28-1719-63D76CC74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F5EBF-BCB9-740A-9E0E-655412C8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1373-5BE5-4379-A805-8D0494900F9E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3DF8B-86C0-E11F-434C-1887FDD7D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166D9-748B-7CC1-A123-7675CF6A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39A4F-8B96-4A33-BB21-7CD9CCF002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87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B2EB-D959-7945-DA2D-3CA709D1C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3CD7F-C6BC-6EE4-5240-008857B39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7FF1-9350-4517-88C5-626AB5F7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1373-5BE5-4379-A805-8D0494900F9E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A2F77-F4E1-4904-2C64-F3C111BB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6A25B-C1F0-4D24-E8D0-293A0199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39A4F-8B96-4A33-BB21-7CD9CCF002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114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8530E-653C-249E-7C13-A69DA1DF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EE69A-C246-4378-2425-43BC7AC16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E03B4-1CE0-46C8-9229-E3D7647F0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1373-5BE5-4379-A805-8D0494900F9E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BF3E3-3857-FA0D-3704-C8D12FEC2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9E6D4-0F60-EBEB-55E5-B0D36733D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39A4F-8B96-4A33-BB21-7CD9CCF002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947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87E57-0D74-FADA-238C-85C14D3D7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D8F8A-C2A0-E6E9-F045-A7A734673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40328-A035-1BAC-0467-4F036D364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DAAF6-A0EA-6BA3-13BC-56EF77A0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1373-5BE5-4379-A805-8D0494900F9E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1113F-EFB6-1587-E7B6-2E170DB3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312CC-C1AD-43DB-A6C7-03698341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39A4F-8B96-4A33-BB21-7CD9CCF002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328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4148D-8D10-EA13-41BE-27AF2ADA2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044F4-CF6D-5169-FD32-663BFDB64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3B011-BC71-CC85-4DFD-0888A8295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21479-4E51-CA88-390E-A9FACEA17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D1BC2-1CEB-4934-EE1D-920664AC9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8DD9F0-ABD6-91C3-0A8B-E45D29779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1373-5BE5-4379-A805-8D0494900F9E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65511C-A669-1674-16FB-7D718F8E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25EAC3-D90C-0D10-FE70-A1679988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39A4F-8B96-4A33-BB21-7CD9CCF002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458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D79B-D745-EE02-42A5-BF1E170AB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E5FE2-BE65-16FE-161C-FA3CE8CFE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1373-5BE5-4379-A805-8D0494900F9E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593A5-2F00-D09C-24D3-FCE0B9EF0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1CA47-36EE-42C9-5519-8D4A71AA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39A4F-8B96-4A33-BB21-7CD9CCF002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58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821E59-46CE-D535-C285-4B0170E2C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1373-5BE5-4379-A805-8D0494900F9E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F4A58-7945-F330-1E19-775398926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8896D-F9E4-1A0C-24B3-82744AFF4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39A4F-8B96-4A33-BB21-7CD9CCF002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608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165F0-9A96-09DE-C218-243B9182F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7A764-556F-233E-15BB-6B54820F6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4B93D-3F4C-88AE-FA14-28C2A4215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F5229-C509-589B-A6F5-45055AE73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1373-5BE5-4379-A805-8D0494900F9E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33074-EEAC-54D1-4970-538366E2F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2FFFA-A199-8633-D7EC-CC30714F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39A4F-8B96-4A33-BB21-7CD9CCF002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248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73689-CC91-06A8-39C0-674D31EA0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760ECD-3D56-54D9-AB15-D9F977C07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67BDE-3287-474A-7C6B-DFED05FCB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71E53-32F2-AD30-FA0D-FE3368F86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1373-5BE5-4379-A805-8D0494900F9E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42DCA-F4CB-D7EC-E462-A6AA37172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493BF-357D-53C1-A695-78F71525E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39A4F-8B96-4A33-BB21-7CD9CCF002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296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CB0E0-F1C1-E71A-1971-AFB1AF36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5FCC6-4403-164C-A371-B85224889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F731A-B06F-B702-9D26-AC610845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1373-5BE5-4379-A805-8D0494900F9E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1F8DF-B5EE-F75B-1884-CEA5B057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2B550-F893-EFE2-3B14-DA7A5353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39A4F-8B96-4A33-BB21-7CD9CCF002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5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7CD684-5529-0017-CE2D-ACF83E47A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A44F5-9A7C-9FEE-B7E3-7736EA705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C0259-2BEA-521E-BBD7-B88B8035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1373-5BE5-4379-A805-8D0494900F9E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EC773-C50B-A3A2-14B1-0E1FFEE31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3B6EA-9F19-EAB6-5164-D82B3B47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39A4F-8B96-4A33-BB21-7CD9CCF002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19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7A7FEE-6A5E-0E30-076E-6CDCC4912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A3AEF-40A8-C2F1-0D0D-90E450AB2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4E36-806F-8027-876B-095CF238E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D1373-5BE5-4379-A805-8D0494900F9E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ED846-BEFA-24BC-AC0B-F4FBF00598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CB1CA-9D7B-AA62-D62D-AEEC44814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939A4F-8B96-4A33-BB21-7CD9CCF002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654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How to run Elastic Cloud on Kubernetes from Azure Kubernetes Service |  Elastic Blog">
            <a:extLst>
              <a:ext uri="{FF2B5EF4-FFF2-40B4-BE49-F238E27FC236}">
                <a16:creationId xmlns:a16="http://schemas.microsoft.com/office/drawing/2014/main" id="{CA3C683C-9441-0859-EDF4-7C228BD16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4" r="21972" b="1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0D08B-FEF4-6CBE-5D91-78AB81185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029" y="62568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Ingress in AKS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93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A754-0FEB-59BD-20B8-01F67B417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81" y="77448"/>
            <a:ext cx="12035319" cy="1325563"/>
          </a:xfrm>
        </p:spPr>
        <p:txBody>
          <a:bodyPr/>
          <a:lstStyle/>
          <a:p>
            <a:pPr algn="ctr"/>
            <a:r>
              <a:rPr lang="en-IN" dirty="0"/>
              <a:t>🔮 </a:t>
            </a:r>
            <a:r>
              <a:rPr lang="en-IN" b="1" dirty="0"/>
              <a:t>Imagine a scenario</a:t>
            </a:r>
            <a:r>
              <a:rPr lang="en-IN" dirty="0"/>
              <a:t>: AI-powered SaaS platform with multiple microservices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ABAE6-47E8-6A70-26CE-692488BAAB71}"/>
              </a:ext>
            </a:extLst>
          </p:cNvPr>
          <p:cNvSpPr txBox="1"/>
          <p:nvPr/>
        </p:nvSpPr>
        <p:spPr>
          <a:xfrm>
            <a:off x="309424" y="1443841"/>
            <a:ext cx="7272904" cy="36933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You're building an AI-powered SaaS platform called "</a:t>
            </a:r>
            <a:r>
              <a:rPr lang="en-IN" b="1" dirty="0" err="1"/>
              <a:t>VisionPro</a:t>
            </a:r>
            <a:r>
              <a:rPr lang="en-IN" dirty="0"/>
              <a:t>" that offers several computer vision APIs and dashboards:</a:t>
            </a:r>
          </a:p>
          <a:p>
            <a:endParaRPr lang="en-IN" dirty="0"/>
          </a:p>
          <a:p>
            <a:r>
              <a:rPr lang="en-IN" b="1" dirty="0"/>
              <a:t>api.visionpro.ai </a:t>
            </a:r>
            <a:r>
              <a:rPr lang="en-IN" dirty="0"/>
              <a:t>→ REST API for inference requests</a:t>
            </a:r>
          </a:p>
          <a:p>
            <a:endParaRPr lang="en-IN" dirty="0"/>
          </a:p>
          <a:p>
            <a:r>
              <a:rPr lang="en-IN" b="1" dirty="0"/>
              <a:t>dashboard.visionpro.ai </a:t>
            </a:r>
            <a:r>
              <a:rPr lang="en-IN" dirty="0"/>
              <a:t>→ React-based frontend for analytics</a:t>
            </a:r>
          </a:p>
          <a:p>
            <a:endParaRPr lang="en-IN" dirty="0"/>
          </a:p>
          <a:p>
            <a:r>
              <a:rPr lang="en-IN" b="1" dirty="0"/>
              <a:t>modelhub.visionpro.ai </a:t>
            </a:r>
            <a:r>
              <a:rPr lang="en-IN" dirty="0"/>
              <a:t>→ UI for uploading and managing custom AI models</a:t>
            </a:r>
          </a:p>
          <a:p>
            <a:endParaRPr lang="en-IN" b="1" dirty="0"/>
          </a:p>
          <a:p>
            <a:r>
              <a:rPr lang="en-IN" b="1" dirty="0"/>
              <a:t>webhook.visionpro.ai </a:t>
            </a:r>
            <a:r>
              <a:rPr lang="en-IN" dirty="0"/>
              <a:t>→ Internal endpoint for receiving model training events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02DBB0-AA79-D159-94BC-0FD24EE20B91}"/>
              </a:ext>
            </a:extLst>
          </p:cNvPr>
          <p:cNvSpPr txBox="1"/>
          <p:nvPr/>
        </p:nvSpPr>
        <p:spPr>
          <a:xfrm>
            <a:off x="309423" y="5303305"/>
            <a:ext cx="9495033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Your Kubernetes cluster hosts all these services as separate Deployments, and you want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Expose all of them over HTTPS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Route traffic based on subdomains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Terminate TLS securely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Monitor usage logs</a:t>
            </a:r>
          </a:p>
        </p:txBody>
      </p:sp>
      <p:pic>
        <p:nvPicPr>
          <p:cNvPr id="2057" name="Picture 9" descr="Diagram showing Ingress traffic flow in an AKS cluster">
            <a:extLst>
              <a:ext uri="{FF2B5EF4-FFF2-40B4-BE49-F238E27FC236}">
                <a16:creationId xmlns:a16="http://schemas.microsoft.com/office/drawing/2014/main" id="{3E450141-13A2-108D-1E69-3273F199A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853" y="2563226"/>
            <a:ext cx="4309205" cy="124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851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9EEB7-0653-AA4B-A872-EEC9A18D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119" y="-2513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Ingress?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E8192AB-DB04-935C-2A32-07CF2903C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2861" y="3300731"/>
            <a:ext cx="10515600" cy="3414860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7DB617-4BB1-0257-0BEA-3A9781510FA9}"/>
              </a:ext>
            </a:extLst>
          </p:cNvPr>
          <p:cNvSpPr txBox="1"/>
          <p:nvPr/>
        </p:nvSpPr>
        <p:spPr>
          <a:xfrm>
            <a:off x="172949" y="849311"/>
            <a:ext cx="6097712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Ingress exposes</a:t>
            </a:r>
            <a:r>
              <a:rPr lang="en-US" b="1" dirty="0"/>
              <a:t> HTTP and HTTPS </a:t>
            </a:r>
            <a:r>
              <a:rPr lang="en-US" dirty="0"/>
              <a:t>routes from outside the cluster to services within the cluster. Traffic routing is controlled by </a:t>
            </a:r>
            <a:r>
              <a:rPr lang="en-US" b="1" dirty="0"/>
              <a:t>rules defined </a:t>
            </a:r>
            <a:r>
              <a:rPr lang="en-US" dirty="0"/>
              <a:t>on the </a:t>
            </a:r>
            <a:r>
              <a:rPr lang="en-US" b="1" dirty="0"/>
              <a:t>Ingress resource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9090E7-FC14-8327-5A7A-F30BECB316A4}"/>
              </a:ext>
            </a:extLst>
          </p:cNvPr>
          <p:cNvSpPr txBox="1"/>
          <p:nvPr/>
        </p:nvSpPr>
        <p:spPr>
          <a:xfrm>
            <a:off x="5759520" y="1936521"/>
            <a:ext cx="6097712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In order for an Ingress to work in your cluster, there must be an </a:t>
            </a:r>
            <a:r>
              <a:rPr lang="en-US" b="1" dirty="0"/>
              <a:t>ingress controller running</a:t>
            </a:r>
            <a:r>
              <a:rPr lang="en-US" dirty="0"/>
              <a:t>. You need to select at least one ingress controller and make sure it is set up in your cluster.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5598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12D63-0F2E-3823-D569-F60F36B47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776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Load Balancer v/s Ingress Controller</a:t>
            </a:r>
            <a:endParaRPr lang="en-IN" dirty="0"/>
          </a:p>
        </p:txBody>
      </p:sp>
      <p:pic>
        <p:nvPicPr>
          <p:cNvPr id="4098" name="Picture 2" descr="What is OSI Model in Computer Network | 7 Layers Explained - CodeRepublics">
            <a:extLst>
              <a:ext uri="{FF2B5EF4-FFF2-40B4-BE49-F238E27FC236}">
                <a16:creationId xmlns:a16="http://schemas.microsoft.com/office/drawing/2014/main" id="{085C4695-6D20-3628-E5E1-819EDA881C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774" y="1733157"/>
            <a:ext cx="740653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99C1D54-18BA-C098-9763-3025A440E1AB}"/>
              </a:ext>
            </a:extLst>
          </p:cNvPr>
          <p:cNvSpPr/>
          <p:nvPr/>
        </p:nvSpPr>
        <p:spPr>
          <a:xfrm>
            <a:off x="6441897" y="4109663"/>
            <a:ext cx="1859622" cy="390418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C0677F7-A789-7A98-9D2C-7BB29D54C7C6}"/>
              </a:ext>
            </a:extLst>
          </p:cNvPr>
          <p:cNvSpPr/>
          <p:nvPr/>
        </p:nvSpPr>
        <p:spPr>
          <a:xfrm>
            <a:off x="6441897" y="2854504"/>
            <a:ext cx="1859622" cy="390418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5B15E-5EBA-E455-10EC-6981A19DA826}"/>
              </a:ext>
            </a:extLst>
          </p:cNvPr>
          <p:cNvSpPr txBox="1"/>
          <p:nvPr/>
        </p:nvSpPr>
        <p:spPr>
          <a:xfrm>
            <a:off x="6804916" y="2514975"/>
            <a:ext cx="2441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Ingress Controller</a:t>
            </a:r>
            <a:endParaRPr lang="en-IN" b="1" dirty="0">
              <a:solidFill>
                <a:schemeClr val="bg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FE7DFB-8D36-2AAA-5A47-6D8709AAD158}"/>
              </a:ext>
            </a:extLst>
          </p:cNvPr>
          <p:cNvSpPr txBox="1"/>
          <p:nvPr/>
        </p:nvSpPr>
        <p:spPr>
          <a:xfrm>
            <a:off x="4529191" y="3924997"/>
            <a:ext cx="2441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Load Balancer</a:t>
            </a:r>
            <a:endParaRPr lang="en-IN" b="1" dirty="0">
              <a:solidFill>
                <a:schemeClr val="bg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2225C0-70E6-7E36-7D5D-E31799D9E2CB}"/>
              </a:ext>
            </a:extLst>
          </p:cNvPr>
          <p:cNvSpPr txBox="1"/>
          <p:nvPr/>
        </p:nvSpPr>
        <p:spPr>
          <a:xfrm>
            <a:off x="307368" y="2413337"/>
            <a:ext cx="4040313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🧠 Summary</a:t>
            </a:r>
          </a:p>
          <a:p>
            <a:r>
              <a:rPr lang="en-IN" dirty="0"/>
              <a:t>1) Use </a:t>
            </a:r>
            <a:r>
              <a:rPr lang="en-IN" b="1" dirty="0"/>
              <a:t>Ingress Controller </a:t>
            </a:r>
            <a:r>
              <a:rPr lang="en-IN" dirty="0"/>
              <a:t>for smart </a:t>
            </a:r>
            <a:r>
              <a:rPr lang="en-IN" b="1" dirty="0"/>
              <a:t>HTTP routing</a:t>
            </a:r>
            <a:r>
              <a:rPr lang="en-IN" dirty="0"/>
              <a:t> and managing multiple services.</a:t>
            </a:r>
          </a:p>
          <a:p>
            <a:endParaRPr lang="en-IN" dirty="0"/>
          </a:p>
          <a:p>
            <a:r>
              <a:rPr lang="en-IN" dirty="0"/>
              <a:t>2) Use </a:t>
            </a:r>
            <a:r>
              <a:rPr lang="en-IN" b="1" dirty="0"/>
              <a:t>Load Balancer </a:t>
            </a:r>
            <a:r>
              <a:rPr lang="en-IN" dirty="0"/>
              <a:t>for basic external access to a </a:t>
            </a:r>
            <a:r>
              <a:rPr lang="en-IN" b="1" dirty="0"/>
              <a:t>single service </a:t>
            </a:r>
            <a:r>
              <a:rPr lang="en-IN" dirty="0"/>
              <a:t>(or to expose the Ingress Controller itself).</a:t>
            </a:r>
          </a:p>
        </p:txBody>
      </p:sp>
    </p:spTree>
    <p:extLst>
      <p:ext uri="{BB962C8B-B14F-4D97-AF65-F5344CB8AC3E}">
        <p14:creationId xmlns:p14="http://schemas.microsoft.com/office/powerpoint/2010/main" val="3701866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0F3883-D8DA-0B04-E115-C24F407EE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354" y="417574"/>
            <a:ext cx="10707291" cy="6022851"/>
          </a:xfrm>
        </p:spPr>
      </p:pic>
    </p:spTree>
    <p:extLst>
      <p:ext uri="{BB962C8B-B14F-4D97-AF65-F5344CB8AC3E}">
        <p14:creationId xmlns:p14="http://schemas.microsoft.com/office/powerpoint/2010/main" val="2604554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8FE6E-0F03-5463-2F4F-34ECB6507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830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Ingress Options in Azure </a:t>
            </a:r>
            <a:endParaRPr lang="en-IN" dirty="0"/>
          </a:p>
        </p:txBody>
      </p:sp>
      <p:pic>
        <p:nvPicPr>
          <p:cNvPr id="5122" name="Picture 2" descr="Nginx logo - Social media &amp; Logos Icons">
            <a:extLst>
              <a:ext uri="{FF2B5EF4-FFF2-40B4-BE49-F238E27FC236}">
                <a16:creationId xmlns:a16="http://schemas.microsoft.com/office/drawing/2014/main" id="{B57CE02C-D01D-3EBE-5634-B635C6A76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914" y="1213797"/>
            <a:ext cx="1609618" cy="160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4BAF7A-243F-311C-850D-27052D6ADB27}"/>
              </a:ext>
            </a:extLst>
          </p:cNvPr>
          <p:cNvSpPr txBox="1"/>
          <p:nvPr/>
        </p:nvSpPr>
        <p:spPr>
          <a:xfrm>
            <a:off x="838200" y="2849957"/>
            <a:ext cx="257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Azure Managed NGINX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C30F1D-3A86-9E07-8AC8-9512EEAA12D5}"/>
              </a:ext>
            </a:extLst>
          </p:cNvPr>
          <p:cNvSpPr txBox="1"/>
          <p:nvPr/>
        </p:nvSpPr>
        <p:spPr>
          <a:xfrm>
            <a:off x="255569" y="3650884"/>
            <a:ext cx="406985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• In-cluster hosted, customizable, and scalable NGINX ingress controllers.</a:t>
            </a:r>
          </a:p>
          <a:p>
            <a:r>
              <a:rPr lang="en-US" sz="1400" dirty="0"/>
              <a:t>• Basic load balancing and routing capabilities.</a:t>
            </a:r>
          </a:p>
          <a:p>
            <a:r>
              <a:rPr lang="en-US" sz="1400" dirty="0"/>
              <a:t>• Internal and external load balancer configuration.</a:t>
            </a:r>
          </a:p>
          <a:p>
            <a:r>
              <a:rPr lang="en-US" sz="1400" dirty="0"/>
              <a:t>• Static IP address configuration.</a:t>
            </a:r>
          </a:p>
          <a:p>
            <a:r>
              <a:rPr lang="en-US" sz="1400" dirty="0"/>
              <a:t>• Integration with Azure Key Vault for certificate management.</a:t>
            </a:r>
          </a:p>
          <a:p>
            <a:r>
              <a:rPr lang="en-US" sz="1400" dirty="0"/>
              <a:t>• Integration with Azure DNS Zones for public and private DNS management.</a:t>
            </a:r>
          </a:p>
          <a:p>
            <a:r>
              <a:rPr lang="en-US" sz="1400" dirty="0"/>
              <a:t>• Supports the Ingress API.</a:t>
            </a:r>
            <a:endParaRPr lang="en-IN" sz="1400" dirty="0"/>
          </a:p>
        </p:txBody>
      </p:sp>
      <p:pic>
        <p:nvPicPr>
          <p:cNvPr id="5124" name="Picture 4" descr="Home - Courscape">
            <a:extLst>
              <a:ext uri="{FF2B5EF4-FFF2-40B4-BE49-F238E27FC236}">
                <a16:creationId xmlns:a16="http://schemas.microsoft.com/office/drawing/2014/main" id="{02385446-B52E-8092-2F18-01EEF0913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658" y="1213796"/>
            <a:ext cx="1609619" cy="160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CD5F4A-6082-F23C-82A0-6A2E4027C232}"/>
              </a:ext>
            </a:extLst>
          </p:cNvPr>
          <p:cNvSpPr txBox="1"/>
          <p:nvPr/>
        </p:nvSpPr>
        <p:spPr>
          <a:xfrm>
            <a:off x="4809589" y="2782669"/>
            <a:ext cx="2572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Application Gateway for Containers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D94961-006A-BC37-CDEA-49D3FCC7CD8E}"/>
              </a:ext>
            </a:extLst>
          </p:cNvPr>
          <p:cNvSpPr txBox="1"/>
          <p:nvPr/>
        </p:nvSpPr>
        <p:spPr>
          <a:xfrm>
            <a:off x="4325420" y="3601092"/>
            <a:ext cx="46995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• Azure hosted ingress gateway.</a:t>
            </a:r>
          </a:p>
          <a:p>
            <a:r>
              <a:rPr lang="en-US" sz="1400" dirty="0"/>
              <a:t>• Flexible deployment strategies managed by the controller or bring your own Application Gateway for Containers.</a:t>
            </a:r>
          </a:p>
          <a:p>
            <a:r>
              <a:rPr lang="en-US" sz="1400" dirty="0"/>
              <a:t>• Advanced traffic management features such as automatic retries, availability zone resiliency, mutual authentication (</a:t>
            </a:r>
            <a:r>
              <a:rPr lang="en-US" sz="1400" dirty="0" err="1"/>
              <a:t>mTLS</a:t>
            </a:r>
            <a:r>
              <a:rPr lang="en-US" sz="1400" dirty="0"/>
              <a:t>) to backend target, traffic splitting / weighted round robin, and autoscaling.</a:t>
            </a:r>
          </a:p>
          <a:p>
            <a:r>
              <a:rPr lang="en-US" sz="1400" dirty="0"/>
              <a:t>• Integration with Azure Key Vault for certificate management.</a:t>
            </a:r>
          </a:p>
          <a:p>
            <a:r>
              <a:rPr lang="en-US" sz="1400" dirty="0"/>
              <a:t>• Integration with Azure DNS Zones for public and private DNS management.</a:t>
            </a:r>
          </a:p>
          <a:p>
            <a:r>
              <a:rPr lang="en-US" sz="1400" dirty="0"/>
              <a:t>• Supports the Ingress and Gateway APIs.</a:t>
            </a:r>
            <a:endParaRPr lang="en-IN" sz="1400" dirty="0"/>
          </a:p>
        </p:txBody>
      </p:sp>
      <p:pic>
        <p:nvPicPr>
          <p:cNvPr id="5128" name="Picture 8" descr="Istio Logo PNG Vector (SVG) Free Download">
            <a:extLst>
              <a:ext uri="{FF2B5EF4-FFF2-40B4-BE49-F238E27FC236}">
                <a16:creationId xmlns:a16="http://schemas.microsoft.com/office/drawing/2014/main" id="{4F7FF58D-4FDE-056F-C5CB-06CE3D3C3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962" y="107616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32B2C1E-9DA2-1175-C720-E414C66E9B4B}"/>
              </a:ext>
            </a:extLst>
          </p:cNvPr>
          <p:cNvSpPr txBox="1"/>
          <p:nvPr/>
        </p:nvSpPr>
        <p:spPr>
          <a:xfrm>
            <a:off x="9021190" y="2837784"/>
            <a:ext cx="257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Istio Ingress Gateway</a:t>
            </a:r>
            <a:endParaRPr lang="en-IN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F65972-8525-21CC-764D-6C1C12B68E74}"/>
              </a:ext>
            </a:extLst>
          </p:cNvPr>
          <p:cNvSpPr txBox="1"/>
          <p:nvPr/>
        </p:nvSpPr>
        <p:spPr>
          <a:xfrm>
            <a:off x="9066141" y="3650884"/>
            <a:ext cx="257282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• Based on Envoy, when using with Istio for a service mesh.</a:t>
            </a:r>
          </a:p>
          <a:p>
            <a:r>
              <a:rPr lang="en-US" sz="1400" dirty="0"/>
              <a:t>• Advanced traffic management features such as rate limiting and circuit breaking.</a:t>
            </a:r>
          </a:p>
          <a:p>
            <a:r>
              <a:rPr lang="en-US" sz="1400" dirty="0"/>
              <a:t>• Support for </a:t>
            </a:r>
            <a:r>
              <a:rPr lang="en-US" sz="1400" dirty="0" err="1"/>
              <a:t>mTLS</a:t>
            </a:r>
            <a:endParaRPr lang="en-IN" sz="1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5705DC-92CC-0DE9-D833-CB083EAF3B63}"/>
              </a:ext>
            </a:extLst>
          </p:cNvPr>
          <p:cNvCxnSpPr/>
          <p:nvPr/>
        </p:nvCxnSpPr>
        <p:spPr>
          <a:xfrm>
            <a:off x="4232953" y="3650884"/>
            <a:ext cx="0" cy="291430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4D5325F-FC27-C173-690B-89F91157E0ED}"/>
              </a:ext>
            </a:extLst>
          </p:cNvPr>
          <p:cNvCxnSpPr/>
          <p:nvPr/>
        </p:nvCxnSpPr>
        <p:spPr>
          <a:xfrm>
            <a:off x="8998930" y="3650884"/>
            <a:ext cx="0" cy="291430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661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4BCE0A9E-FD9B-62C5-79F2-E67E132E2B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418" y="869319"/>
            <a:ext cx="9687182" cy="5356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68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429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Ingress in AKS</vt:lpstr>
      <vt:lpstr>🔮 Imagine a scenario: AI-powered SaaS platform with multiple microservices</vt:lpstr>
      <vt:lpstr>What is Ingress?</vt:lpstr>
      <vt:lpstr>Load Balancer v/s Ingress Controller</vt:lpstr>
      <vt:lpstr>PowerPoint Presentation</vt:lpstr>
      <vt:lpstr>Ingress Options in Azure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2025-07-23T11:05:41Z</dcterms:created>
  <dcterms:modified xsi:type="dcterms:W3CDTF">2025-07-23T11:53:49Z</dcterms:modified>
</cp:coreProperties>
</file>