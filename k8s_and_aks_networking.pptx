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21F7CD32-C9B8-4CFC-AD30-581E55B2ECAB}"/>
    <pc:docChg chg="delSld">
      <pc:chgData name="kuljot bakshi" userId="e18f591f5991c12c" providerId="LiveId" clId="{21F7CD32-C9B8-4CFC-AD30-581E55B2ECAB}" dt="2025-07-20T10:14:49.439" v="3" actId="47"/>
      <pc:docMkLst>
        <pc:docMk/>
      </pc:docMkLst>
      <pc:sldChg chg="del">
        <pc:chgData name="kuljot bakshi" userId="e18f591f5991c12c" providerId="LiveId" clId="{21F7CD32-C9B8-4CFC-AD30-581E55B2ECAB}" dt="2025-07-20T10:14:42.852" v="0" actId="47"/>
        <pc:sldMkLst>
          <pc:docMk/>
          <pc:sldMk cId="1793598283" sldId="263"/>
        </pc:sldMkLst>
      </pc:sldChg>
      <pc:sldChg chg="del">
        <pc:chgData name="kuljot bakshi" userId="e18f591f5991c12c" providerId="LiveId" clId="{21F7CD32-C9B8-4CFC-AD30-581E55B2ECAB}" dt="2025-07-20T10:14:44.264" v="1" actId="47"/>
        <pc:sldMkLst>
          <pc:docMk/>
          <pc:sldMk cId="1905104873" sldId="264"/>
        </pc:sldMkLst>
      </pc:sldChg>
      <pc:sldChg chg="del">
        <pc:chgData name="kuljot bakshi" userId="e18f591f5991c12c" providerId="LiveId" clId="{21F7CD32-C9B8-4CFC-AD30-581E55B2ECAB}" dt="2025-07-20T10:14:46.311" v="2" actId="47"/>
        <pc:sldMkLst>
          <pc:docMk/>
          <pc:sldMk cId="3614114413" sldId="265"/>
        </pc:sldMkLst>
      </pc:sldChg>
      <pc:sldChg chg="del">
        <pc:chgData name="kuljot bakshi" userId="e18f591f5991c12c" providerId="LiveId" clId="{21F7CD32-C9B8-4CFC-AD30-581E55B2ECAB}" dt="2025-07-20T10:14:49.439" v="3" actId="47"/>
        <pc:sldMkLst>
          <pc:docMk/>
          <pc:sldMk cId="2341351845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2216-6C16-1F68-9A0A-106317C6C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3EAA7-21F0-0E4C-4578-68FA269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B6D09-4CBC-A9F3-60E7-4FA65530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8B2BC-D305-1CD4-0D2B-A9B4AC5A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65270-F2E5-3280-32E5-C87E3984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1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93FA-8E22-D6AD-39F7-323131A3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FFDD0-39BB-BC46-A558-F7EC8FAB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C8BC-7C5B-0DD0-A870-EF232D4B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A54FE-3E22-CA3F-22CB-0E85D6341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4817A-8519-CBEA-F0C8-DB118E8D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3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6851-68EA-D563-7859-1A23936F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466D8-13F8-9564-0F76-E95B2A4D5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B97B-6311-F0ED-640F-E43C77ED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4CA9-6575-82DD-59F4-B7A316E4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5151-634F-9975-A1DB-B7218114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8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A7FE-CD18-948F-2316-DAEEB826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5AC5-A90B-5F38-32A0-4ABC989CA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F3DBE-3A1B-58DB-3AC3-E7AFBF368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69719-5CD0-0AE8-D10A-32B999C7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B32D1-D636-25A7-658D-02630649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DDCC-4484-1EDA-7F13-D3C6440C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1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F79A-6643-5305-272D-1A7D37A9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5EC49-C99F-7CB5-6F73-95986B4C7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ABE98-878B-B50B-C32E-36F88A55E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6ACB2-E6F9-F5F2-4938-89674C321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D237D-1209-FD4F-8D4D-89112E30C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F8DB4-DCD8-5596-9B1C-33C78945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223CA-1645-C909-ADC9-F38B9AAE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0546E-4C6B-8D50-EE6D-733F5915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80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1963-C6A2-DB82-FA58-B511768F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E0018-45AE-B26F-8E56-8672C409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34FA2-F9AD-483F-F0D5-DF3B1404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E89E3-BDE4-9AE7-F284-4B06888A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5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C83E4-EE41-3CA5-F62D-C956096E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F8354-056A-A7AC-C0B1-9D6EF69F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0A741-9473-B6CC-2B57-4638C460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47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07E5-9DD0-DD1A-F1E2-9EDC48AE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1145-8400-CAE9-322B-663F99F55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A8FC0-71D5-1BC3-9BD1-1BEAFEDB4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37D54-28EA-9BE9-C502-87F889B0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21522-DDDF-82AD-EB8F-E8A8CA01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7A03E-77C3-35BC-350A-8A137140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39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F128-4585-40E1-0BAB-5E99E615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B36B8-62CF-8418-735B-3BD9ADF96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250A8-F014-7E6C-8865-B5FD8EA9B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3C90D-8728-4B4E-CB63-7F193BD5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C9A97-C9F7-472C-63C6-F2EF2863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7C30C-C872-84AF-33AA-0F762D5A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76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22C2-9754-58F6-DD3E-4562279B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28EC1-95B6-9632-B38A-3AC9C3467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61FA-3462-3A7E-4BC9-38F20CFD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BA6F1-4F71-1A26-D80B-F2EDCFBE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D592-FD87-1122-BB97-C797D309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8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9C5FE-85C3-2D9F-B17B-6FB6DFDAC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FB964-879C-D4F3-0CED-C8615748F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3F34-B3E3-D362-185C-943396DA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2E10-04E3-4E7E-5590-E095D133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39A3-DEA7-E44F-4A5B-F73E1FBF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42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DADDB-83DA-DBC8-2320-899FCECF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BD9A-895C-1A35-CFC2-343A40DA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04D2-226E-7EAD-BEBE-0FD0D4B10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5960C-3D64-47F6-A421-78B7E16C22B0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84150-BA57-53A0-1E17-70EEB74CF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059E8-AC5E-9376-A50E-47970D503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8F0D4-A93A-4F22-B200-29A463B1E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38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ubernetes Networking Explained - Guide for Beginners">
            <a:extLst>
              <a:ext uri="{FF2B5EF4-FFF2-40B4-BE49-F238E27FC236}">
                <a16:creationId xmlns:a16="http://schemas.microsoft.com/office/drawing/2014/main" id="{8494FE8B-8BA6-49DA-3928-24E613FEE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0" r="2" b="5075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A25B99-2C8D-8193-8536-0A7CF1969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K8S and AKS Networking</a:t>
            </a:r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868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2834-0099-5EF4-708F-7A1ACC04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Main Areas of Comms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0181-5339-9442-3A75-8FCBF6B34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44" y="1825626"/>
            <a:ext cx="10602931" cy="2037458"/>
          </a:xfrm>
        </p:spPr>
        <p:txBody>
          <a:bodyPr/>
          <a:lstStyle/>
          <a:p>
            <a:r>
              <a:rPr lang="en-US" dirty="0"/>
              <a:t>Container to Container Communication</a:t>
            </a:r>
          </a:p>
          <a:p>
            <a:r>
              <a:rPr lang="en-US" dirty="0"/>
              <a:t>Pod to Pod Communication</a:t>
            </a:r>
          </a:p>
          <a:p>
            <a:r>
              <a:rPr lang="en-US" dirty="0"/>
              <a:t>Pod to Service Communication</a:t>
            </a:r>
          </a:p>
          <a:p>
            <a:r>
              <a:rPr lang="en-US" dirty="0"/>
              <a:t>External to Service Communication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30F24-1AA2-DE82-8359-DBC3C7750311}"/>
              </a:ext>
            </a:extLst>
          </p:cNvPr>
          <p:cNvSpPr txBox="1"/>
          <p:nvPr/>
        </p:nvSpPr>
        <p:spPr>
          <a:xfrm>
            <a:off x="5363109" y="4345968"/>
            <a:ext cx="621586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Think of a “</a:t>
            </a:r>
            <a:r>
              <a:rPr lang="en-US" sz="2000" b="1" dirty="0"/>
              <a:t>Service”</a:t>
            </a:r>
            <a:r>
              <a:rPr lang="en-US" sz="2000" dirty="0"/>
              <a:t> as a typical way to expose multiple running backends under the same hood. Cleanest example is Azure Load Balancer which is a service of type </a:t>
            </a:r>
            <a:r>
              <a:rPr lang="en-US" sz="2000" b="1" dirty="0"/>
              <a:t>“</a:t>
            </a:r>
            <a:r>
              <a:rPr lang="en-US" sz="2000" b="1" dirty="0" err="1"/>
              <a:t>LoadBalancer</a:t>
            </a:r>
            <a:r>
              <a:rPr lang="en-US" sz="2000" b="1" dirty="0"/>
              <a:t>”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9627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DAF5-A09E-BA79-8952-0DE38C37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Points about K8S Networking….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1699-E1A1-EEE1-648C-FF863CF9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08" y="1897544"/>
            <a:ext cx="7278384" cy="13255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 Kubernetes networking implementation allocates IP addresses, assigns DNS names, and maps ports to your Pods and Services. This process is generally automatic.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D381F-7B9D-D755-59D8-63FA5ADBDD2E}"/>
              </a:ext>
            </a:extLst>
          </p:cNvPr>
          <p:cNvSpPr txBox="1"/>
          <p:nvPr/>
        </p:nvSpPr>
        <p:spPr>
          <a:xfrm>
            <a:off x="437507" y="3429000"/>
            <a:ext cx="727838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At a high level, the Kubernetes network model works by allocating each Pod a unique IP address that resolves within your cluster.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06CFF-C038-2E26-D76F-06F38D266425}"/>
              </a:ext>
            </a:extLst>
          </p:cNvPr>
          <p:cNvSpPr txBox="1"/>
          <p:nvPr/>
        </p:nvSpPr>
        <p:spPr>
          <a:xfrm>
            <a:off x="437507" y="4983638"/>
            <a:ext cx="735886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Pods can then communicate using their IP addresses, without requiring NAT or any other configuration.</a:t>
            </a:r>
          </a:p>
          <a:p>
            <a:endParaRPr lang="en-US" sz="2400" dirty="0"/>
          </a:p>
        </p:txBody>
      </p:sp>
      <p:pic>
        <p:nvPicPr>
          <p:cNvPr id="2052" name="Picture 4" descr="Kubernetes Networking | K8s Services and The Types">
            <a:extLst>
              <a:ext uri="{FF2B5EF4-FFF2-40B4-BE49-F238E27FC236}">
                <a16:creationId xmlns:a16="http://schemas.microsoft.com/office/drawing/2014/main" id="{323A997A-68E5-0860-BF4C-539516DC9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563" y="2221877"/>
            <a:ext cx="4015422" cy="276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0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89F9-30A9-AA10-8B03-6DFB05AB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187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 Typical AKS Networking Setup</a:t>
            </a:r>
            <a:endParaRPr lang="en-IN" dirty="0"/>
          </a:p>
        </p:txBody>
      </p:sp>
      <p:pic>
        <p:nvPicPr>
          <p:cNvPr id="4" name="Picture 2" descr="Configure Azure CNI Overlay networking in Azure Kubernetes Service (AKS) -  Azure Kubernetes Service | Microsoft Learn">
            <a:extLst>
              <a:ext uri="{FF2B5EF4-FFF2-40B4-BE49-F238E27FC236}">
                <a16:creationId xmlns:a16="http://schemas.microsoft.com/office/drawing/2014/main" id="{4B7BD6CE-A634-293C-84A0-511D72C8F3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96" y="945785"/>
            <a:ext cx="8429807" cy="572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ricing—Load Balancer | Microsoft Azure">
            <a:extLst>
              <a:ext uri="{FF2B5EF4-FFF2-40B4-BE49-F238E27FC236}">
                <a16:creationId xmlns:a16="http://schemas.microsoft.com/office/drawing/2014/main" id="{D9CAF3CC-5B89-6390-C62E-99230502C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686" y="3750067"/>
            <a:ext cx="1110894" cy="58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8FCAC-04B0-4AB4-7562-4BAA56AFFD3A}"/>
              </a:ext>
            </a:extLst>
          </p:cNvPr>
          <p:cNvSpPr txBox="1"/>
          <p:nvPr/>
        </p:nvSpPr>
        <p:spPr>
          <a:xfrm>
            <a:off x="6095999" y="3857010"/>
            <a:ext cx="244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Azure Load Balancer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79400-6704-50A9-6377-CAC7D12E1FC7}"/>
              </a:ext>
            </a:extLst>
          </p:cNvPr>
          <p:cNvSpPr txBox="1"/>
          <p:nvPr/>
        </p:nvSpPr>
        <p:spPr>
          <a:xfrm>
            <a:off x="3772258" y="3872265"/>
            <a:ext cx="244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Service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4E6F6-D4C2-E2C5-A7C6-8A218EE61E2F}"/>
              </a:ext>
            </a:extLst>
          </p:cNvPr>
          <p:cNvSpPr txBox="1"/>
          <p:nvPr/>
        </p:nvSpPr>
        <p:spPr>
          <a:xfrm>
            <a:off x="7356297" y="5912215"/>
            <a:ext cx="4835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Virtual Network </a:t>
            </a:r>
          </a:p>
          <a:p>
            <a:pPr algn="ctr"/>
            <a:r>
              <a:rPr lang="en-US" sz="1400" dirty="0"/>
              <a:t>Range – [192.168.0.0 , 192.168.256.256]</a:t>
            </a:r>
            <a:endParaRPr lang="en-IN" sz="1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5A0333-5F10-DC1C-3536-DEAA9FE300F5}"/>
              </a:ext>
            </a:extLst>
          </p:cNvPr>
          <p:cNvSpPr/>
          <p:nvPr/>
        </p:nvSpPr>
        <p:spPr>
          <a:xfrm>
            <a:off x="7500136" y="5094678"/>
            <a:ext cx="1921267" cy="369332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EB0EB6-5FD3-7BDB-CF88-FDE25E7C7E3F}"/>
              </a:ext>
            </a:extLst>
          </p:cNvPr>
          <p:cNvCxnSpPr/>
          <p:nvPr/>
        </p:nvCxnSpPr>
        <p:spPr>
          <a:xfrm>
            <a:off x="8543031" y="5517222"/>
            <a:ext cx="1231117" cy="394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CAF118D-613D-AAB4-3EFE-ED5E1EFC74A0}"/>
              </a:ext>
            </a:extLst>
          </p:cNvPr>
          <p:cNvSpPr/>
          <p:nvPr/>
        </p:nvSpPr>
        <p:spPr>
          <a:xfrm>
            <a:off x="2063394" y="4530246"/>
            <a:ext cx="1921267" cy="917416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2447F-AF44-4CFD-9C49-6ED625AC2E60}"/>
              </a:ext>
            </a:extLst>
          </p:cNvPr>
          <p:cNvSpPr txBox="1"/>
          <p:nvPr/>
        </p:nvSpPr>
        <p:spPr>
          <a:xfrm>
            <a:off x="-1" y="5893066"/>
            <a:ext cx="3084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VMSS (Virtual Machine Scale Sets) acting as scalable nodes</a:t>
            </a:r>
            <a:endParaRPr lang="en-IN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D410C3-498D-934F-732F-5F7E8505B07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542373" y="5447662"/>
            <a:ext cx="1375488" cy="445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AFA99-C0A0-4D01-9548-354A38BDBD51}"/>
              </a:ext>
            </a:extLst>
          </p:cNvPr>
          <p:cNvSpPr txBox="1"/>
          <p:nvPr/>
        </p:nvSpPr>
        <p:spPr>
          <a:xfrm>
            <a:off x="9269001" y="3750067"/>
            <a:ext cx="27612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Load Balancer routing external traffic to the internal pods and AKS Cluster</a:t>
            </a:r>
            <a:endParaRPr lang="en-IN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E29E0C-704A-D28A-0439-DA11EA5B56FD}"/>
              </a:ext>
            </a:extLst>
          </p:cNvPr>
          <p:cNvSpPr/>
          <p:nvPr/>
        </p:nvSpPr>
        <p:spPr>
          <a:xfrm>
            <a:off x="6021939" y="3867999"/>
            <a:ext cx="2369907" cy="365669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555344-3748-B03A-AEA8-B85D12E20AB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543031" y="4041676"/>
            <a:ext cx="864313" cy="19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3D88EC-30FB-733D-0D5D-13A3DEF37D5B}"/>
              </a:ext>
            </a:extLst>
          </p:cNvPr>
          <p:cNvSpPr txBox="1"/>
          <p:nvPr/>
        </p:nvSpPr>
        <p:spPr>
          <a:xfrm>
            <a:off x="9209601" y="790267"/>
            <a:ext cx="3084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CNI Overlay – Creates an overlay network and assigns Pods IP Addresses for the Pod CIDR to avoid </a:t>
            </a:r>
            <a:r>
              <a:rPr lang="en-US" sz="1400" dirty="0" err="1"/>
              <a:t>Vnet</a:t>
            </a:r>
            <a:r>
              <a:rPr lang="en-US" sz="1400" dirty="0"/>
              <a:t> IP exhaustion</a:t>
            </a:r>
            <a:endParaRPr lang="en-IN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989291C-2DF6-A696-C83A-E609982EC8FF}"/>
              </a:ext>
            </a:extLst>
          </p:cNvPr>
          <p:cNvSpPr/>
          <p:nvPr/>
        </p:nvSpPr>
        <p:spPr>
          <a:xfrm>
            <a:off x="8013842" y="1106903"/>
            <a:ext cx="1195759" cy="461725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7F20B2-2467-2ABF-A7E0-D6A477F1B4DE}"/>
              </a:ext>
            </a:extLst>
          </p:cNvPr>
          <p:cNvCxnSpPr>
            <a:cxnSpLocks/>
          </p:cNvCxnSpPr>
          <p:nvPr/>
        </p:nvCxnSpPr>
        <p:spPr>
          <a:xfrm>
            <a:off x="8543031" y="1106903"/>
            <a:ext cx="725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9D2EF36-A9A2-A1FF-2561-49E714029316}"/>
              </a:ext>
            </a:extLst>
          </p:cNvPr>
          <p:cNvSpPr/>
          <p:nvPr/>
        </p:nvSpPr>
        <p:spPr>
          <a:xfrm>
            <a:off x="3024027" y="1810927"/>
            <a:ext cx="1921267" cy="461725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994FA3-0EAF-4465-182F-C72B4BBDB033}"/>
              </a:ext>
            </a:extLst>
          </p:cNvPr>
          <p:cNvSpPr txBox="1"/>
          <p:nvPr/>
        </p:nvSpPr>
        <p:spPr>
          <a:xfrm>
            <a:off x="-102349" y="1209209"/>
            <a:ext cx="23618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Azure CNI Overlay Plugin helps the Nodes maintain a Routing Table that maps Pod CIDR to the Azure </a:t>
            </a:r>
            <a:r>
              <a:rPr lang="en-US" sz="1400" dirty="0" err="1"/>
              <a:t>Vnet</a:t>
            </a:r>
            <a:r>
              <a:rPr lang="en-US" sz="1400" dirty="0"/>
              <a:t> IPv4 range via a Virtual LAN Tunnel</a:t>
            </a:r>
            <a:endParaRPr lang="en-IN" sz="1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DA2CAB-55B4-C84E-578F-993FC05E1D39}"/>
              </a:ext>
            </a:extLst>
          </p:cNvPr>
          <p:cNvCxnSpPr>
            <a:cxnSpLocks/>
            <a:stCxn id="31" idx="2"/>
          </p:cNvCxnSpPr>
          <p:nvPr/>
        </p:nvCxnSpPr>
        <p:spPr>
          <a:xfrm flipH="1" flipV="1">
            <a:off x="2063394" y="1901706"/>
            <a:ext cx="960633" cy="140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Diving into Azure Load Balancer Types: 2023's Complete Guide">
            <a:extLst>
              <a:ext uri="{FF2B5EF4-FFF2-40B4-BE49-F238E27FC236}">
                <a16:creationId xmlns:a16="http://schemas.microsoft.com/office/drawing/2014/main" id="{21233C7F-7384-0997-685C-E2F25164F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61" y="3511620"/>
            <a:ext cx="1674755" cy="108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5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1081-E705-ADCD-C9FF-5364AB36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02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“Services” in K8S</a:t>
            </a:r>
            <a:endParaRPr lang="en-IN" dirty="0"/>
          </a:p>
        </p:txBody>
      </p:sp>
      <p:pic>
        <p:nvPicPr>
          <p:cNvPr id="5122" name="Picture 2" descr="Getting started with Kubernetes Services - Spectro Cloud">
            <a:extLst>
              <a:ext uri="{FF2B5EF4-FFF2-40B4-BE49-F238E27FC236}">
                <a16:creationId xmlns:a16="http://schemas.microsoft.com/office/drawing/2014/main" id="{A9213278-F19C-0C8D-F709-3FE87E7ABE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446" y="1417833"/>
            <a:ext cx="6692317" cy="470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5A7C9D-68B6-6AC4-35E7-D0FF674A5E4B}"/>
              </a:ext>
            </a:extLst>
          </p:cNvPr>
          <p:cNvSpPr txBox="1"/>
          <p:nvPr/>
        </p:nvSpPr>
        <p:spPr>
          <a:xfrm>
            <a:off x="226031" y="1417833"/>
            <a:ext cx="4428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Services</a:t>
            </a:r>
            <a:r>
              <a:rPr lang="en-US" dirty="0"/>
              <a:t> in </a:t>
            </a:r>
            <a:r>
              <a:rPr lang="en-US" b="1" dirty="0"/>
              <a:t>K8S</a:t>
            </a:r>
            <a:r>
              <a:rPr lang="en-US" dirty="0"/>
              <a:t> and </a:t>
            </a:r>
            <a:r>
              <a:rPr lang="en-US" b="1" dirty="0"/>
              <a:t>AKS</a:t>
            </a:r>
            <a:r>
              <a:rPr lang="en-US" dirty="0"/>
              <a:t> are important to expose multiple pods under a </a:t>
            </a:r>
            <a:r>
              <a:rPr lang="en-US" b="1" dirty="0"/>
              <a:t>single IP</a:t>
            </a:r>
            <a:r>
              <a:rPr lang="en-US" dirty="0"/>
              <a:t> Address or a </a:t>
            </a:r>
            <a:r>
              <a:rPr lang="en-US" b="1" dirty="0"/>
              <a:t>DNS</a:t>
            </a:r>
            <a:r>
              <a:rPr lang="en-US" dirty="0"/>
              <a:t> name.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20244-1B39-9C32-24A2-D006E7951AFA}"/>
              </a:ext>
            </a:extLst>
          </p:cNvPr>
          <p:cNvSpPr txBox="1"/>
          <p:nvPr/>
        </p:nvSpPr>
        <p:spPr>
          <a:xfrm>
            <a:off x="226031" y="2690336"/>
            <a:ext cx="51884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Services Exist: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Pods are </a:t>
            </a:r>
            <a:r>
              <a:rPr lang="en-US" b="1" dirty="0"/>
              <a:t>ephemeral</a:t>
            </a:r>
            <a:r>
              <a:rPr lang="en-US" dirty="0"/>
              <a:t> — their IPs can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Service gives a </a:t>
            </a:r>
            <a:r>
              <a:rPr lang="en-US" b="1" dirty="0"/>
              <a:t>stable virtual IP (</a:t>
            </a:r>
            <a:r>
              <a:rPr lang="en-US" b="1" dirty="0" err="1"/>
              <a:t>ClusterIP</a:t>
            </a:r>
            <a:r>
              <a:rPr lang="en-US" b="1" dirty="0"/>
              <a:t>)</a:t>
            </a:r>
            <a:r>
              <a:rPr lang="en-US" dirty="0"/>
              <a:t> to access backend pods reliably, even if pods die or restart.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20026-4235-83E0-AF3D-9309A4D6A786}"/>
              </a:ext>
            </a:extLst>
          </p:cNvPr>
          <p:cNvSpPr txBox="1"/>
          <p:nvPr/>
        </p:nvSpPr>
        <p:spPr>
          <a:xfrm>
            <a:off x="226031" y="4407964"/>
            <a:ext cx="51884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Five main Types of Services:</a:t>
            </a:r>
          </a:p>
          <a:p>
            <a:r>
              <a:rPr lang="en-US" dirty="0"/>
              <a:t>1) </a:t>
            </a:r>
            <a:r>
              <a:rPr lang="en-US" dirty="0" err="1"/>
              <a:t>ClusterIP</a:t>
            </a:r>
            <a:endParaRPr lang="en-US" dirty="0"/>
          </a:p>
          <a:p>
            <a:r>
              <a:rPr lang="en-US" dirty="0"/>
              <a:t>2) </a:t>
            </a:r>
            <a:r>
              <a:rPr lang="en-US" dirty="0" err="1"/>
              <a:t>NodePort</a:t>
            </a:r>
            <a:endParaRPr lang="en-US" dirty="0"/>
          </a:p>
          <a:p>
            <a:r>
              <a:rPr lang="en-US" dirty="0"/>
              <a:t>3) </a:t>
            </a:r>
            <a:r>
              <a:rPr lang="en-US" dirty="0" err="1"/>
              <a:t>LoadBalancer</a:t>
            </a:r>
            <a:endParaRPr lang="en-US" dirty="0"/>
          </a:p>
          <a:p>
            <a:r>
              <a:rPr lang="en-US" dirty="0"/>
              <a:t>4) </a:t>
            </a:r>
            <a:r>
              <a:rPr lang="en-US" dirty="0" err="1"/>
              <a:t>ExternalName</a:t>
            </a:r>
            <a:endParaRPr lang="en-US" dirty="0"/>
          </a:p>
          <a:p>
            <a:r>
              <a:rPr lang="en-US" dirty="0"/>
              <a:t>5) Headless Service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0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ubernetes — Service Types Overview | by Ashish Patel | DevOps Mojo | Medium">
            <a:extLst>
              <a:ext uri="{FF2B5EF4-FFF2-40B4-BE49-F238E27FC236}">
                <a16:creationId xmlns:a16="http://schemas.microsoft.com/office/drawing/2014/main" id="{3E289B3B-F928-7DA1-E63F-B021F6E126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415" y="115852"/>
            <a:ext cx="5715843" cy="662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51D1A0-89E5-7358-09B8-4709BA37FAA0}"/>
              </a:ext>
            </a:extLst>
          </p:cNvPr>
          <p:cNvSpPr/>
          <p:nvPr/>
        </p:nvSpPr>
        <p:spPr>
          <a:xfrm>
            <a:off x="3236360" y="3429000"/>
            <a:ext cx="5835721" cy="3107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B5192-E6C3-F8E7-ABA8-683D9E915BF8}"/>
              </a:ext>
            </a:extLst>
          </p:cNvPr>
          <p:cNvSpPr txBox="1"/>
          <p:nvPr/>
        </p:nvSpPr>
        <p:spPr>
          <a:xfrm>
            <a:off x="418672" y="1654408"/>
            <a:ext cx="2519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Exposes service </a:t>
            </a:r>
            <a:r>
              <a:rPr lang="en-US" b="1" dirty="0"/>
              <a:t>only inside the cluster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210B7F-C01F-605C-FB96-C960173487E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506894" y="1744273"/>
            <a:ext cx="1806540" cy="300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D56569E-03C8-A421-31D3-66AD035E3028}"/>
              </a:ext>
            </a:extLst>
          </p:cNvPr>
          <p:cNvSpPr/>
          <p:nvPr/>
        </p:nvSpPr>
        <p:spPr>
          <a:xfrm>
            <a:off x="7459038" y="1489753"/>
            <a:ext cx="585627" cy="554804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D77A4-F925-BC1E-31BF-4F36B4A0D278}"/>
              </a:ext>
            </a:extLst>
          </p:cNvPr>
          <p:cNvSpPr txBox="1"/>
          <p:nvPr/>
        </p:nvSpPr>
        <p:spPr>
          <a:xfrm>
            <a:off x="9352052" y="1126095"/>
            <a:ext cx="1646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Service of type </a:t>
            </a:r>
            <a:r>
              <a:rPr lang="en-US" b="1" dirty="0"/>
              <a:t>“</a:t>
            </a:r>
            <a:r>
              <a:rPr lang="en-US" b="1" dirty="0" err="1"/>
              <a:t>ClusterIP</a:t>
            </a:r>
            <a:r>
              <a:rPr lang="en-US" b="1" dirty="0"/>
              <a:t>”</a:t>
            </a:r>
            <a:endParaRPr lang="en-IN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6A906D-60EA-6AD2-40AC-8EB337553834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8044665" y="1449261"/>
            <a:ext cx="1307387" cy="295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0D7E5FC-B8D0-67C1-2354-DD4900A80A00}"/>
              </a:ext>
            </a:extLst>
          </p:cNvPr>
          <p:cNvSpPr/>
          <p:nvPr/>
        </p:nvSpPr>
        <p:spPr>
          <a:xfrm>
            <a:off x="4313434" y="1466871"/>
            <a:ext cx="585627" cy="554804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FFEA8E-B4C9-0303-7C09-647120D36BE2}"/>
              </a:ext>
            </a:extLst>
          </p:cNvPr>
          <p:cNvSpPr/>
          <p:nvPr/>
        </p:nvSpPr>
        <p:spPr>
          <a:xfrm>
            <a:off x="7191053" y="59547"/>
            <a:ext cx="1121596" cy="554804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F02F9-490D-B99B-8D25-76748EC79A46}"/>
              </a:ext>
            </a:extLst>
          </p:cNvPr>
          <p:cNvSpPr txBox="1"/>
          <p:nvPr/>
        </p:nvSpPr>
        <p:spPr>
          <a:xfrm>
            <a:off x="9540411" y="13783"/>
            <a:ext cx="2637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Exposes a port on each </a:t>
            </a:r>
            <a:r>
              <a:rPr lang="en-US" b="1" dirty="0"/>
              <a:t>Node’s IP </a:t>
            </a:r>
            <a:r>
              <a:rPr lang="en-US" dirty="0"/>
              <a:t>which routes to </a:t>
            </a:r>
            <a:r>
              <a:rPr lang="en-US" b="1" dirty="0" err="1"/>
              <a:t>ClusterIP</a:t>
            </a:r>
            <a:endParaRPr lang="en-IN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3A3A4B-431E-B000-BF01-5ED3DCE7150C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>
            <a:off x="8312649" y="336949"/>
            <a:ext cx="1227762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D072B4D-BECB-64CF-7EDD-B967C01BA40D}"/>
              </a:ext>
            </a:extLst>
          </p:cNvPr>
          <p:cNvSpPr/>
          <p:nvPr/>
        </p:nvSpPr>
        <p:spPr>
          <a:xfrm>
            <a:off x="4045449" y="4089114"/>
            <a:ext cx="1121596" cy="407155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8204F5-1AE2-580F-780D-1103E9337A31}"/>
              </a:ext>
            </a:extLst>
          </p:cNvPr>
          <p:cNvSpPr txBox="1"/>
          <p:nvPr/>
        </p:nvSpPr>
        <p:spPr>
          <a:xfrm>
            <a:off x="276558" y="2465394"/>
            <a:ext cx="295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use-Case</a:t>
            </a:r>
            <a:r>
              <a:rPr lang="en-IN" dirty="0"/>
              <a:t>: Internal APIs, DB services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5840D9-BECF-B58F-B9CC-D44AB4AF53EC}"/>
              </a:ext>
            </a:extLst>
          </p:cNvPr>
          <p:cNvCxnSpPr>
            <a:cxnSpLocks/>
          </p:cNvCxnSpPr>
          <p:nvPr/>
        </p:nvCxnSpPr>
        <p:spPr>
          <a:xfrm flipH="1">
            <a:off x="2578813" y="1767155"/>
            <a:ext cx="1703798" cy="924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22F1904-71A7-5C95-A4FB-D54A7EB3EFF5}"/>
              </a:ext>
            </a:extLst>
          </p:cNvPr>
          <p:cNvSpPr txBox="1"/>
          <p:nvPr/>
        </p:nvSpPr>
        <p:spPr>
          <a:xfrm>
            <a:off x="9428264" y="1865229"/>
            <a:ext cx="27637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use-Case</a:t>
            </a:r>
            <a:r>
              <a:rPr lang="en-US" dirty="0"/>
              <a:t>: Accessing service externally without a </a:t>
            </a:r>
            <a:r>
              <a:rPr lang="en-US" b="1" dirty="0" err="1"/>
              <a:t>LoadBalancer</a:t>
            </a:r>
            <a:endParaRPr lang="en-IN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DADBEE5-58BF-D395-8F86-050ABA93F252}"/>
              </a:ext>
            </a:extLst>
          </p:cNvPr>
          <p:cNvSpPr/>
          <p:nvPr/>
        </p:nvSpPr>
        <p:spPr>
          <a:xfrm>
            <a:off x="7282665" y="4015289"/>
            <a:ext cx="1029984" cy="554804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DFC5FA-9CFE-F1B2-6476-60F7B2DF4606}"/>
              </a:ext>
            </a:extLst>
          </p:cNvPr>
          <p:cNvSpPr txBox="1"/>
          <p:nvPr/>
        </p:nvSpPr>
        <p:spPr>
          <a:xfrm>
            <a:off x="9459087" y="3679943"/>
            <a:ext cx="2263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Maps a service to an </a:t>
            </a:r>
            <a:r>
              <a:rPr lang="en-US" b="1" dirty="0"/>
              <a:t>external DNS Name</a:t>
            </a:r>
            <a:endParaRPr lang="en-IN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B1AD62-580C-8BCB-61CC-CABA91DCA3AA}"/>
              </a:ext>
            </a:extLst>
          </p:cNvPr>
          <p:cNvCxnSpPr>
            <a:cxnSpLocks/>
            <a:stCxn id="30" idx="6"/>
            <a:endCxn id="31" idx="1"/>
          </p:cNvCxnSpPr>
          <p:nvPr/>
        </p:nvCxnSpPr>
        <p:spPr>
          <a:xfrm flipV="1">
            <a:off x="8312649" y="4003109"/>
            <a:ext cx="1146438" cy="289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AE4BB5CE-845B-7593-D3FE-CC4D6B46B069}"/>
              </a:ext>
            </a:extLst>
          </p:cNvPr>
          <p:cNvSpPr/>
          <p:nvPr/>
        </p:nvSpPr>
        <p:spPr>
          <a:xfrm>
            <a:off x="7504844" y="4931596"/>
            <a:ext cx="539822" cy="470042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CC05F8-6DEB-4536-252E-E9EDAA722918}"/>
              </a:ext>
            </a:extLst>
          </p:cNvPr>
          <p:cNvSpPr txBox="1"/>
          <p:nvPr/>
        </p:nvSpPr>
        <p:spPr>
          <a:xfrm>
            <a:off x="9428263" y="5731905"/>
            <a:ext cx="1646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Service of type </a:t>
            </a:r>
            <a:r>
              <a:rPr lang="en-US" b="1" dirty="0"/>
              <a:t>“</a:t>
            </a:r>
            <a:r>
              <a:rPr lang="en-US" b="1" dirty="0" err="1"/>
              <a:t>ClusterIP</a:t>
            </a:r>
            <a:r>
              <a:rPr lang="en-US" b="1" dirty="0"/>
              <a:t>”</a:t>
            </a:r>
            <a:endParaRPr lang="en-IN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360C64-D33A-F03B-70BB-E1E60C8B02AB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8044665" y="5173880"/>
            <a:ext cx="1383598" cy="881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5445FB2-1A5C-96D3-EE12-D901BBD27047}"/>
              </a:ext>
            </a:extLst>
          </p:cNvPr>
          <p:cNvSpPr txBox="1"/>
          <p:nvPr/>
        </p:nvSpPr>
        <p:spPr>
          <a:xfrm>
            <a:off x="9352052" y="4573715"/>
            <a:ext cx="2576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use-Case</a:t>
            </a:r>
            <a:r>
              <a:rPr lang="en-US" dirty="0"/>
              <a:t>: </a:t>
            </a:r>
            <a:r>
              <a:rPr lang="en-US" b="1" dirty="0"/>
              <a:t>db.mycompany.com </a:t>
            </a:r>
            <a:r>
              <a:rPr lang="en-US" dirty="0"/>
              <a:t>as a service name</a:t>
            </a:r>
            <a:endParaRPr lang="en-IN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314701-BF4C-90DE-6D2A-2D8C85E8F505}"/>
              </a:ext>
            </a:extLst>
          </p:cNvPr>
          <p:cNvCxnSpPr>
            <a:cxnSpLocks/>
            <a:stCxn id="30" idx="6"/>
            <a:endCxn id="41" idx="1"/>
          </p:cNvCxnSpPr>
          <p:nvPr/>
        </p:nvCxnSpPr>
        <p:spPr>
          <a:xfrm>
            <a:off x="8312649" y="4292691"/>
            <a:ext cx="1039403" cy="742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D860B54-E354-5BCD-41C5-1D4400984056}"/>
              </a:ext>
            </a:extLst>
          </p:cNvPr>
          <p:cNvSpPr txBox="1"/>
          <p:nvPr/>
        </p:nvSpPr>
        <p:spPr>
          <a:xfrm>
            <a:off x="143838" y="4281453"/>
            <a:ext cx="2763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Provisions an </a:t>
            </a:r>
            <a:r>
              <a:rPr lang="en-US" b="1" dirty="0"/>
              <a:t>external IP </a:t>
            </a:r>
            <a:r>
              <a:rPr lang="en-US" dirty="0"/>
              <a:t>via </a:t>
            </a:r>
            <a:r>
              <a:rPr lang="en-US" b="1" dirty="0"/>
              <a:t>Azure Load Balancer</a:t>
            </a:r>
            <a:endParaRPr lang="en-IN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845F96-8910-D9DC-AF2C-DBEBE59B616D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826262" y="4292692"/>
            <a:ext cx="1219187" cy="277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03BEE4-C867-1987-1490-4084F6C04E73}"/>
              </a:ext>
            </a:extLst>
          </p:cNvPr>
          <p:cNvSpPr txBox="1"/>
          <p:nvPr/>
        </p:nvSpPr>
        <p:spPr>
          <a:xfrm>
            <a:off x="143838" y="5247626"/>
            <a:ext cx="29598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use-Case</a:t>
            </a:r>
            <a:r>
              <a:rPr lang="en-IN" dirty="0"/>
              <a:t>: Ingress, public-facing web services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493E4AA-D45E-C608-F943-A0CE17E0556F}"/>
              </a:ext>
            </a:extLst>
          </p:cNvPr>
          <p:cNvCxnSpPr>
            <a:cxnSpLocks/>
            <a:stCxn id="21" idx="2"/>
            <a:endCxn id="54" idx="0"/>
          </p:cNvCxnSpPr>
          <p:nvPr/>
        </p:nvCxnSpPr>
        <p:spPr>
          <a:xfrm flipH="1">
            <a:off x="1623739" y="4292692"/>
            <a:ext cx="2421710" cy="954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94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413ACC-2221-9A8B-308F-7C81EAC4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60" y="-15885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DNS Works in Kubernetes Clusters</a:t>
            </a:r>
            <a:endParaRPr lang="en-IN" dirty="0"/>
          </a:p>
        </p:txBody>
      </p:sp>
      <p:pic>
        <p:nvPicPr>
          <p:cNvPr id="4098" name="Picture 2" descr="Debugging and Monitoring DNS issues in Kubernetes">
            <a:extLst>
              <a:ext uri="{FF2B5EF4-FFF2-40B4-BE49-F238E27FC236}">
                <a16:creationId xmlns:a16="http://schemas.microsoft.com/office/drawing/2014/main" id="{5CDB89B1-5F58-4BB5-DCEE-53FB38BF5B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72" y="2304549"/>
            <a:ext cx="5254218" cy="265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6F0EA16-758B-854E-E73C-3A3D31059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10" y="1744319"/>
            <a:ext cx="6256963" cy="29539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3648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Kubernetes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automatically assigns DNS names to Pods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Services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 in the following format: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Pod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 –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pod-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address.pod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-namespace-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name.pod.cluster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domain.example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 (e.g.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10.244.0.1.my-app.svc.cluster.local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A4D57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 –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service-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name.service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-namespace-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name.svc.cluster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domain.example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 (e.g.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database.my-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A4D57"/>
                </a:solidFill>
                <a:effectLst/>
                <a:cs typeface="Courier New" panose="02070309020205020404" pitchFamily="49" charset="0"/>
              </a:rPr>
              <a:t>app.svc.cluster.local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A4D57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9074A59-590A-408F-073C-572ECA559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10" y="4698289"/>
            <a:ext cx="6256963" cy="1568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36482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The applications running in your Pods should usually be configured to </a:t>
            </a:r>
            <a:r>
              <a:rPr lang="en-US" b="1" dirty="0"/>
              <a:t>communicate with Services </a:t>
            </a:r>
            <a:r>
              <a:rPr lang="en-US" dirty="0"/>
              <a:t>using their </a:t>
            </a:r>
            <a:r>
              <a:rPr lang="en-US" b="1" dirty="0"/>
              <a:t>DNS names</a:t>
            </a:r>
            <a:r>
              <a:rPr lang="en-US" dirty="0"/>
              <a:t>. Names are predictable, whereas a </a:t>
            </a:r>
            <a:r>
              <a:rPr lang="en-US" b="1" dirty="0"/>
              <a:t>Service’s IP address</a:t>
            </a:r>
            <a:r>
              <a:rPr lang="en-US" dirty="0"/>
              <a:t> will change if the Service is deleted and then replaced.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438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506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K8S and AKS Networking</vt:lpstr>
      <vt:lpstr>Four Main Areas of Comms</vt:lpstr>
      <vt:lpstr>Some Key Points about K8S Networking….</vt:lpstr>
      <vt:lpstr>A Typical AKS Networking Setup</vt:lpstr>
      <vt:lpstr>What Are “Services” in K8S</vt:lpstr>
      <vt:lpstr>PowerPoint Presentation</vt:lpstr>
      <vt:lpstr>How DNS Works in Kubernetes Clusters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2025-07-20T05:12:51Z</dcterms:created>
  <dcterms:modified xsi:type="dcterms:W3CDTF">2025-07-20T10:14:51Z</dcterms:modified>
</cp:coreProperties>
</file>