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6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090D4-3E3E-D7CB-8DB5-7CF059347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F3F591-05AB-E6D8-2E3C-03749A4B6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94D09-692E-96B5-C84A-8ACC3822A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2B7-ADA0-4A14-80EF-3AE1D7F80821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C35A9-6D06-786F-E01B-3D74C4B50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01468-FFF5-A094-99D9-29954CD05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E8481-7097-4C4B-A28D-4E61F738E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751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8521F-4D7A-EAB1-667D-45CA3BF65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4DAD2-457F-0242-C73B-009F61C2D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63A98-89DC-A781-5369-C53B1108E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2B7-ADA0-4A14-80EF-3AE1D7F80821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FCE1D-F3B1-A16A-4AF2-6C6127053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572AD-E238-2F9C-E761-C4AE046E0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E8481-7097-4C4B-A28D-4E61F738E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093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69DDD-D3BB-C271-D6CC-FAD7DA294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E648F-C71A-EAAB-2DEA-9B4A96EE7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0687F-D40A-BDC5-6392-A34916B1D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2B7-ADA0-4A14-80EF-3AE1D7F80821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7FC9D-A0AC-6CFB-7453-5B57A04ED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123C8-27A3-A35C-7366-4EF096038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E8481-7097-4C4B-A28D-4E61F738E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449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F2221-B367-CD60-3EC5-A9BBF9733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AE499-3DEA-B7B5-AA96-6B7C51365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9D580-FE21-99C1-2498-8116DED4B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D6357-3E7F-5C2F-A139-05410015A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2B7-ADA0-4A14-80EF-3AE1D7F80821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BE51B-55E9-3197-E9D7-6FD731371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A72C4-643D-1E7A-E430-F3383EACD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E8481-7097-4C4B-A28D-4E61F738E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124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F4669-2A86-4031-D15A-D098CAD81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1A440-8B93-D5F3-2A9F-E7779FE35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035B6D-2E89-335B-373C-A7268712C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5CD554-119B-2B2C-21F7-26A69956A2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72F97F-9210-DF50-B509-479231DFCF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7EF059-ACB3-F53F-1FC5-0D6DA6E79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2B7-ADA0-4A14-80EF-3AE1D7F80821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7A24C6-D24B-1A53-0682-1DC5CBF06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685E32-7F8E-E3DF-900B-BEA89D62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E8481-7097-4C4B-A28D-4E61F738E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748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D3300-0F87-D09E-86C4-16BBB1D50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769C9-D820-4752-E434-7A09A454F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2B7-ADA0-4A14-80EF-3AE1D7F80821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7D3431-3A78-EE0A-E443-06F56B10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A4889-1786-779E-DDA1-A3FB9A0B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E8481-7097-4C4B-A28D-4E61F738E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376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619CA2-25D6-F625-99E5-AC4B8950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2B7-ADA0-4A14-80EF-3AE1D7F80821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F123BD-66AE-DBAE-1650-A6581234D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B783C-9FF0-0188-B5EB-3E967BA9F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E8481-7097-4C4B-A28D-4E61F738E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79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4D09B-D7FD-ECC2-D9F9-8F50777BD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29277-0113-D022-AC05-B90FDB2FB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ACE370-7B4A-08D7-ED31-754B6757F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7B99B-2713-6CAD-5CD1-E631D0CF6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2B7-ADA0-4A14-80EF-3AE1D7F80821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3A71C-65F5-4F7F-3441-6798E2828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D7864-58CB-BDAF-A6F2-4A163D626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E8481-7097-4C4B-A28D-4E61F738E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852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8D4E8-BABA-7F90-7506-A7C9EB708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BC882-76B2-B4AC-953C-E8F1112603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FE581B-2AE1-2736-6340-3E061C82C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B8DDC-7E98-8550-53F6-77A633BF5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2B7-ADA0-4A14-80EF-3AE1D7F80821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CB322-F0CE-5EC9-5B34-8DAD4D7DD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967DF-EEE1-85E7-F37B-E8759D74C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E8481-7097-4C4B-A28D-4E61F738E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401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81C7E-897A-6196-FF55-F314C0513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E2DF73-FC4B-A976-9E20-41475CDEB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4AD70-9769-2E5C-9EB6-82644A3F1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2B7-ADA0-4A14-80EF-3AE1D7F80821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044D2-1588-63E7-98DF-00D590E96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594A7-10B9-57BC-7576-D3C303AEE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E8481-7097-4C4B-A28D-4E61F738E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184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3AFD5C-D213-F966-7F6A-1BD1F3D721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D3B1C-0E2E-CC2D-80E4-8C41C9A3E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D08B1-A095-4F23-253B-562C07B16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D2B7-ADA0-4A14-80EF-3AE1D7F80821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3B360-B7A9-7561-1932-B1861C9EA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07E59-0358-EC33-1AB6-879D5510D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E8481-7097-4C4B-A28D-4E61F738E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235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0ADE76-392F-F091-19E2-BF01C6F8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5D62A-5C44-7CEA-BDBB-431964A56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CD7D2-6149-24AA-0808-8142707DB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DAD2B7-ADA0-4A14-80EF-3AE1D7F80821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68DC6-5645-290B-C7B6-248DDE8FC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19071-A71B-97FB-B232-AA6B955954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7E8481-7097-4C4B-A28D-4E61F738E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557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E18F6E8B-15ED-43C7-94BA-91549A651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ECC31-058D-AACB-8081-239824ADB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5199" y="2631868"/>
            <a:ext cx="4900144" cy="2736965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/>
              <a:t>  Event Driven Scaling in AKS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D75713-C2C2-20FF-E5F3-232B89721F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593" y="2804377"/>
            <a:ext cx="5940044" cy="1709849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/>
              <a:t>(KEDA – Kubernetes Event Driven Autoscaling)</a:t>
            </a:r>
            <a:endParaRPr lang="en-IN" sz="2000" dirty="0"/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04803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38" name="Rectangle 1037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Rectangle 103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Rectangle 103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089A89A-1E9C-4761-9DFF-53C275FBF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257770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Implementation of KEDA for Autoscaling on AKS Cluster | by Aman Gupta |  Medium">
            <a:extLst>
              <a:ext uri="{FF2B5EF4-FFF2-40B4-BE49-F238E27FC236}">
                <a16:creationId xmlns:a16="http://schemas.microsoft.com/office/drawing/2014/main" id="{91677FF5-F4D6-B1F9-EA00-681F8D16B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0583" y="471748"/>
            <a:ext cx="2552007" cy="2552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6" name="Rectangle 104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3462252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Releases · Azure/AKS">
            <a:extLst>
              <a:ext uri="{FF2B5EF4-FFF2-40B4-BE49-F238E27FC236}">
                <a16:creationId xmlns:a16="http://schemas.microsoft.com/office/drawing/2014/main" id="{A48F1821-67DD-7FD5-3997-D95F769BC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14162" y="3871022"/>
            <a:ext cx="4324849" cy="2162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82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81E3D-881E-9AA5-8ED4-D2075AA9A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31" y="97997"/>
            <a:ext cx="10922285" cy="1325563"/>
          </a:xfrm>
        </p:spPr>
        <p:txBody>
          <a:bodyPr/>
          <a:lstStyle/>
          <a:p>
            <a:r>
              <a:rPr lang="en-IN" dirty="0"/>
              <a:t>🚀 </a:t>
            </a:r>
            <a:r>
              <a:rPr lang="en-IN" b="1" dirty="0"/>
              <a:t>Scenario: Scaling an Azure AI Chat App in AKS using KEDA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128EE14-710F-96F2-0DD1-E01FA6389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257" y="1630894"/>
            <a:ext cx="5553915" cy="203132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📍 Setting: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You’ve deployed an AI chat app on</a:t>
            </a:r>
            <a:r>
              <a:rPr lang="en-US" altLang="en-US" b="1" dirty="0">
                <a:latin typeface="Arial" panose="020B0604020202020204" pitchFamily="34" charset="0"/>
              </a:rPr>
              <a:t> 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zure Kubernetes Service (AKS)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of the day, traffic is 💤 low, but during events or product launches, traffic spikes 📈 like crazy.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don’t want to keep extra pods running when no one’s using it.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2589D1-D4A0-713C-CC8A-7C551F26DE96}"/>
              </a:ext>
            </a:extLst>
          </p:cNvPr>
          <p:cNvSpPr txBox="1"/>
          <p:nvPr/>
        </p:nvSpPr>
        <p:spPr>
          <a:xfrm>
            <a:off x="261257" y="3986928"/>
            <a:ext cx="5553915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❌ Without KEDA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No native way to scale on </a:t>
            </a:r>
            <a:r>
              <a:rPr lang="en-US" b="1" dirty="0"/>
              <a:t>HTTP pending requests</a:t>
            </a:r>
            <a:r>
              <a:rPr lang="en-US" dirty="0"/>
              <a:t> or </a:t>
            </a:r>
            <a:r>
              <a:rPr lang="en-US" b="1" dirty="0"/>
              <a:t>queue length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DC916E-A656-65AE-0166-69D7C3434857}"/>
              </a:ext>
            </a:extLst>
          </p:cNvPr>
          <p:cNvSpPr txBox="1"/>
          <p:nvPr/>
        </p:nvSpPr>
        <p:spPr>
          <a:xfrm>
            <a:off x="261257" y="5234967"/>
            <a:ext cx="5553915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✅ With KEDA</a:t>
            </a:r>
          </a:p>
          <a:p>
            <a:r>
              <a:rPr lang="en-US" dirty="0"/>
              <a:t>KEDA = Event-driven autoscaling.</a:t>
            </a:r>
            <a:br>
              <a:rPr lang="en-US" dirty="0"/>
            </a:br>
            <a:r>
              <a:rPr lang="en-US" dirty="0"/>
              <a:t>You can scale </a:t>
            </a:r>
            <a:r>
              <a:rPr lang="en-US" b="1" dirty="0"/>
              <a:t>before</a:t>
            </a:r>
            <a:r>
              <a:rPr lang="en-US" dirty="0"/>
              <a:t> your pods are overloaded by tracking things like HTTP requests in flight.</a:t>
            </a:r>
          </a:p>
        </p:txBody>
      </p:sp>
      <p:pic>
        <p:nvPicPr>
          <p:cNvPr id="11" name="Picture 10" descr="A diagram of a server">
            <a:extLst>
              <a:ext uri="{FF2B5EF4-FFF2-40B4-BE49-F238E27FC236}">
                <a16:creationId xmlns:a16="http://schemas.microsoft.com/office/drawing/2014/main" id="{8FA26608-AE15-290C-730D-1026AA321A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88395"/>
            <a:ext cx="5879642" cy="330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814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28D68-0C6E-B26B-4CEB-70D14CC99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434" y="18255"/>
            <a:ext cx="11477090" cy="1325563"/>
          </a:xfrm>
        </p:spPr>
        <p:txBody>
          <a:bodyPr/>
          <a:lstStyle/>
          <a:p>
            <a:r>
              <a:rPr lang="en-US" dirty="0"/>
              <a:t>Scaler Type 1: HPA (Horizontal Pod </a:t>
            </a:r>
            <a:r>
              <a:rPr lang="en-US" dirty="0" err="1"/>
              <a:t>Autoscaler</a:t>
            </a:r>
            <a:r>
              <a:rPr lang="en-US" dirty="0"/>
              <a:t>)</a:t>
            </a:r>
            <a:endParaRPr lang="en-IN" dirty="0"/>
          </a:p>
        </p:txBody>
      </p:sp>
      <p:pic>
        <p:nvPicPr>
          <p:cNvPr id="4" name="Content Placeholder 3" descr="A diagram of a server">
            <a:extLst>
              <a:ext uri="{FF2B5EF4-FFF2-40B4-BE49-F238E27FC236}">
                <a16:creationId xmlns:a16="http://schemas.microsoft.com/office/drawing/2014/main" id="{07622937-20B3-30CA-EB94-C80C0EFDFF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478" y="2135851"/>
            <a:ext cx="5791200" cy="32585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18798E-4E44-6ADE-A136-844205971298}"/>
              </a:ext>
            </a:extLst>
          </p:cNvPr>
          <p:cNvSpPr txBox="1"/>
          <p:nvPr/>
        </p:nvSpPr>
        <p:spPr>
          <a:xfrm>
            <a:off x="93322" y="1621071"/>
            <a:ext cx="600267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Definition</a:t>
            </a:r>
            <a:r>
              <a:rPr lang="en-IN" dirty="0"/>
              <a:t>: Automatically adjusts pod replicas in a Kubernetes workload based on metrics.</a:t>
            </a:r>
          </a:p>
          <a:p>
            <a:endParaRPr lang="en-IN" dirty="0"/>
          </a:p>
          <a:p>
            <a:r>
              <a:rPr lang="en-IN" dirty="0"/>
              <a:t>📊 </a:t>
            </a:r>
            <a:r>
              <a:rPr lang="en-IN" b="1" dirty="0"/>
              <a:t>Metrics</a:t>
            </a:r>
            <a:r>
              <a:rPr lang="en-IN" dirty="0"/>
              <a:t>: Supports CPU/memory by default, can use custom or external metrics (e.g., via KEDA).</a:t>
            </a:r>
          </a:p>
          <a:p>
            <a:endParaRPr lang="en-IN" dirty="0"/>
          </a:p>
          <a:p>
            <a:r>
              <a:rPr lang="en-IN" dirty="0"/>
              <a:t>⚙️</a:t>
            </a:r>
            <a:r>
              <a:rPr lang="en-IN" b="1" dirty="0"/>
              <a:t> Function</a:t>
            </a:r>
            <a:r>
              <a:rPr lang="en-IN" dirty="0"/>
              <a:t>: Periodically checks metrics, compares to a target, and scales pods up/down.</a:t>
            </a:r>
          </a:p>
          <a:p>
            <a:endParaRPr lang="en-IN" dirty="0"/>
          </a:p>
          <a:p>
            <a:r>
              <a:rPr lang="en-IN" dirty="0"/>
              <a:t>⏱️ </a:t>
            </a:r>
            <a:r>
              <a:rPr lang="en-IN" b="1" dirty="0"/>
              <a:t>Speed</a:t>
            </a:r>
            <a:r>
              <a:rPr lang="en-IN" dirty="0"/>
              <a:t>: Scales up fast (~15s) and scales down slower (default 5 minutes).</a:t>
            </a:r>
          </a:p>
          <a:p>
            <a:endParaRPr lang="en-IN" dirty="0"/>
          </a:p>
          <a:p>
            <a:r>
              <a:rPr lang="en-IN" dirty="0"/>
              <a:t>🤝 </a:t>
            </a:r>
            <a:r>
              <a:rPr lang="en-IN" b="1" dirty="0"/>
              <a:t>With KEDA</a:t>
            </a:r>
            <a:r>
              <a:rPr lang="en-IN" dirty="0"/>
              <a:t>: KEDA supplies external metrics to HPA and manages the HPA object for event-driven scaling.</a:t>
            </a:r>
          </a:p>
        </p:txBody>
      </p:sp>
    </p:spTree>
    <p:extLst>
      <p:ext uri="{BB962C8B-B14F-4D97-AF65-F5344CB8AC3E}">
        <p14:creationId xmlns:p14="http://schemas.microsoft.com/office/powerpoint/2010/main" val="1817257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EAF3F-3D41-6C00-EE2D-FB626ED3A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942" y="-103276"/>
            <a:ext cx="10515600" cy="1325563"/>
          </a:xfrm>
        </p:spPr>
        <p:txBody>
          <a:bodyPr/>
          <a:lstStyle/>
          <a:p>
            <a:r>
              <a:rPr lang="en-US" dirty="0"/>
              <a:t>Scaler Type 2: VPA (Vertical Pod </a:t>
            </a:r>
            <a:r>
              <a:rPr lang="en-US" dirty="0" err="1"/>
              <a:t>Autoscaler</a:t>
            </a:r>
            <a:r>
              <a:rPr lang="en-US" dirty="0"/>
              <a:t>)</a:t>
            </a:r>
            <a:endParaRPr lang="en-IN" dirty="0"/>
          </a:p>
        </p:txBody>
      </p:sp>
      <p:pic>
        <p:nvPicPr>
          <p:cNvPr id="5" name="Content Placeholder 4" descr="A diagram of a computer">
            <a:extLst>
              <a:ext uri="{FF2B5EF4-FFF2-40B4-BE49-F238E27FC236}">
                <a16:creationId xmlns:a16="http://schemas.microsoft.com/office/drawing/2014/main" id="{E2E3B1EE-29C4-B95D-759D-9E0DF19992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450" y="2299287"/>
            <a:ext cx="5646808" cy="3177271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57DA99-F05F-039A-331D-C7C6DEC56837}"/>
              </a:ext>
            </a:extLst>
          </p:cNvPr>
          <p:cNvSpPr txBox="1"/>
          <p:nvPr/>
        </p:nvSpPr>
        <p:spPr>
          <a:xfrm>
            <a:off x="102742" y="1625766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Definition</a:t>
            </a:r>
            <a:r>
              <a:rPr lang="en-IN" dirty="0"/>
              <a:t>: Automatically adjusts CPU and memory requests/limits for containers in a pod based on observed usage.</a:t>
            </a:r>
          </a:p>
          <a:p>
            <a:endParaRPr lang="en-IN" dirty="0"/>
          </a:p>
          <a:p>
            <a:r>
              <a:rPr lang="en-IN" dirty="0"/>
              <a:t>📊 </a:t>
            </a:r>
            <a:r>
              <a:rPr lang="en-IN" b="1" dirty="0"/>
              <a:t>Metrics</a:t>
            </a:r>
            <a:r>
              <a:rPr lang="en-IN" dirty="0"/>
              <a:t>: Monitors historical and real-time resource usage to recommend or apply changes.</a:t>
            </a:r>
          </a:p>
          <a:p>
            <a:endParaRPr lang="en-IN" dirty="0"/>
          </a:p>
          <a:p>
            <a:r>
              <a:rPr lang="en-IN" dirty="0"/>
              <a:t>⚙️ </a:t>
            </a:r>
            <a:r>
              <a:rPr lang="en-IN" b="1" dirty="0"/>
              <a:t>Function</a:t>
            </a:r>
            <a:r>
              <a:rPr lang="en-IN" dirty="0"/>
              <a:t>: Ensures pods have enough resources without over-provisioning, improving efficiency.</a:t>
            </a:r>
          </a:p>
          <a:p>
            <a:endParaRPr lang="en-IN" dirty="0"/>
          </a:p>
          <a:p>
            <a:r>
              <a:rPr lang="en-IN" dirty="0"/>
              <a:t>🔄 </a:t>
            </a:r>
            <a:r>
              <a:rPr lang="en-IN" b="1" dirty="0"/>
              <a:t>Pod Restart</a:t>
            </a:r>
            <a:r>
              <a:rPr lang="en-IN" dirty="0"/>
              <a:t>: Changing requests/limits usually requires restarting pods, so scaling is less instant than HPA.</a:t>
            </a:r>
          </a:p>
          <a:p>
            <a:endParaRPr lang="en-IN" dirty="0"/>
          </a:p>
          <a:p>
            <a:r>
              <a:rPr lang="en-IN" dirty="0"/>
              <a:t>🤝 </a:t>
            </a:r>
            <a:r>
              <a:rPr lang="en-IN" b="1" dirty="0"/>
              <a:t>With HPA</a:t>
            </a:r>
            <a:r>
              <a:rPr lang="en-IN" dirty="0"/>
              <a:t>: VPA handles resource sizing, while HPA handles pod count; they can work together carefully to avoid conflicts.</a:t>
            </a:r>
          </a:p>
        </p:txBody>
      </p:sp>
    </p:spTree>
    <p:extLst>
      <p:ext uri="{BB962C8B-B14F-4D97-AF65-F5344CB8AC3E}">
        <p14:creationId xmlns:p14="http://schemas.microsoft.com/office/powerpoint/2010/main" val="2890427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51143-07AD-1ED6-026E-DC205EB93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-20093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Understanding the KEDA Architecture</a:t>
            </a:r>
            <a:endParaRPr lang="en-IN" dirty="0"/>
          </a:p>
        </p:txBody>
      </p:sp>
      <p:pic>
        <p:nvPicPr>
          <p:cNvPr id="5122" name="Picture 2" descr="KEDA Concepts | KEDA">
            <a:extLst>
              <a:ext uri="{FF2B5EF4-FFF2-40B4-BE49-F238E27FC236}">
                <a16:creationId xmlns:a16="http://schemas.microsoft.com/office/drawing/2014/main" id="{4E110615-1498-3629-518B-6AC4F8104A2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165" y="920523"/>
            <a:ext cx="7671953" cy="5937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7BA3B1-BDF1-A358-EC4B-B28A1037F60D}"/>
              </a:ext>
            </a:extLst>
          </p:cNvPr>
          <p:cNvSpPr txBox="1"/>
          <p:nvPr/>
        </p:nvSpPr>
        <p:spPr>
          <a:xfrm>
            <a:off x="66553" y="1124630"/>
            <a:ext cx="3080657" cy="20313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dirty="0"/>
              <a:t>This is a </a:t>
            </a:r>
            <a:r>
              <a:rPr lang="en-IN" sz="1400" b="1" dirty="0"/>
              <a:t>Custom Resource (CRD)</a:t>
            </a:r>
            <a:r>
              <a:rPr lang="en-IN" sz="1400" dirty="0"/>
              <a:t> that you define in Kubernetes.</a:t>
            </a:r>
          </a:p>
          <a:p>
            <a:endParaRPr lang="en-IN" sz="1400" dirty="0"/>
          </a:p>
          <a:p>
            <a:r>
              <a:rPr lang="en-IN" sz="1400" dirty="0"/>
              <a:t>It contains: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Trigger definition</a:t>
            </a:r>
            <a:r>
              <a:rPr lang="en-IN" sz="1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b="1" dirty="0"/>
              <a:t>Scaling rules</a:t>
            </a:r>
            <a:r>
              <a:rPr lang="en-IN" sz="1400" dirty="0"/>
              <a:t> (You register this object in Kubernetes → it’s stored in the </a:t>
            </a:r>
            <a:r>
              <a:rPr lang="en-IN" sz="1400" b="1" dirty="0"/>
              <a:t>Kubernetes API Server</a:t>
            </a:r>
            <a:r>
              <a:rPr lang="en-IN" sz="1400" dirty="0"/>
              <a:t>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F74BD8-46B9-31F5-D4D7-09B2F26C1777}"/>
              </a:ext>
            </a:extLst>
          </p:cNvPr>
          <p:cNvCxnSpPr>
            <a:stCxn id="5" idx="3"/>
          </p:cNvCxnSpPr>
          <p:nvPr/>
        </p:nvCxnSpPr>
        <p:spPr>
          <a:xfrm>
            <a:off x="3147210" y="2140293"/>
            <a:ext cx="1126839" cy="1405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6B37A48-D2F8-C743-9760-ECBB021BE833}"/>
              </a:ext>
            </a:extLst>
          </p:cNvPr>
          <p:cNvSpPr txBox="1"/>
          <p:nvPr/>
        </p:nvSpPr>
        <p:spPr>
          <a:xfrm>
            <a:off x="202914" y="4277411"/>
            <a:ext cx="3080657" cy="95410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1" dirty="0"/>
              <a:t>📊 Metrics Adapter</a:t>
            </a:r>
            <a:r>
              <a:rPr lang="en-IN" sz="1400" dirty="0"/>
              <a:t> → Feeds custom/external metrics (like pending HTTP requests) to Kubernetes’ Horizontal Pod </a:t>
            </a:r>
            <a:r>
              <a:rPr lang="en-IN" sz="1400" dirty="0" err="1"/>
              <a:t>Autoscaler</a:t>
            </a:r>
            <a:r>
              <a:rPr lang="en-IN" sz="1400" dirty="0"/>
              <a:t> (HPA).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D6B981-773E-B725-F14A-BD8718D5A894}"/>
              </a:ext>
            </a:extLst>
          </p:cNvPr>
          <p:cNvCxnSpPr>
            <a:cxnSpLocks/>
          </p:cNvCxnSpPr>
          <p:nvPr/>
        </p:nvCxnSpPr>
        <p:spPr>
          <a:xfrm flipV="1">
            <a:off x="3283571" y="4130211"/>
            <a:ext cx="2997486" cy="62425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5AB70AD-5E53-BC7A-E377-84CD24E59817}"/>
              </a:ext>
            </a:extLst>
          </p:cNvPr>
          <p:cNvSpPr txBox="1"/>
          <p:nvPr/>
        </p:nvSpPr>
        <p:spPr>
          <a:xfrm>
            <a:off x="625438" y="6161536"/>
            <a:ext cx="4010117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1" dirty="0"/>
              <a:t>🧠 Controller</a:t>
            </a:r>
            <a:r>
              <a:rPr lang="en-US" sz="1400" dirty="0"/>
              <a:t> → Watches for </a:t>
            </a:r>
            <a:r>
              <a:rPr lang="en-US" sz="1400" dirty="0" err="1"/>
              <a:t>ScaledObjects</a:t>
            </a:r>
            <a:r>
              <a:rPr lang="en-US" sz="1400" dirty="0"/>
              <a:t> and orchestrates scaling logic.</a:t>
            </a:r>
            <a:endParaRPr lang="en-IN" sz="14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A6B684C-F58B-38CB-EF2E-4446BA75EBD5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4635555" y="4130211"/>
            <a:ext cx="2710251" cy="22929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44BEFC3-FFC9-0FDA-B2F2-CFB35D97F849}"/>
              </a:ext>
            </a:extLst>
          </p:cNvPr>
          <p:cNvSpPr txBox="1"/>
          <p:nvPr/>
        </p:nvSpPr>
        <p:spPr>
          <a:xfrm>
            <a:off x="8405951" y="1032296"/>
            <a:ext cx="3609776" cy="73866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1" dirty="0"/>
              <a:t>📈 Scaler</a:t>
            </a:r>
            <a:r>
              <a:rPr lang="en-US" sz="1400" dirty="0"/>
              <a:t> → Connects to the external trigger source (e.g., Azure Service Bus, Kafka, HTTP interceptor) to fetch metrics.</a:t>
            </a:r>
            <a:endParaRPr lang="en-IN" sz="14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63909E5-3BFC-5BA7-2C9E-8CA975BDA603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8405951" y="1770960"/>
            <a:ext cx="1804888" cy="18969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54A3B5C-0C2F-5648-61D7-67142324EB8A}"/>
              </a:ext>
            </a:extLst>
          </p:cNvPr>
          <p:cNvSpPr txBox="1"/>
          <p:nvPr/>
        </p:nvSpPr>
        <p:spPr>
          <a:xfrm>
            <a:off x="9816582" y="2350085"/>
            <a:ext cx="2308865" cy="73866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1" dirty="0"/>
              <a:t>🛡 Admission Webhooks</a:t>
            </a:r>
            <a:r>
              <a:rPr lang="en-US" sz="1400" dirty="0"/>
              <a:t> → Validate and mutate </a:t>
            </a:r>
            <a:r>
              <a:rPr lang="en-US" sz="1400" dirty="0" err="1"/>
              <a:t>ScaledObjects</a:t>
            </a:r>
            <a:r>
              <a:rPr lang="en-US" sz="1400" dirty="0"/>
              <a:t> on creation.</a:t>
            </a:r>
            <a:endParaRPr lang="en-IN" sz="14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4F30062-B603-ADB4-4B45-051515308659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9816582" y="3088749"/>
            <a:ext cx="1154433" cy="8005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223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E1DFB-6C58-A33C-576E-24F591D8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9" y="18255"/>
            <a:ext cx="11996057" cy="1325563"/>
          </a:xfrm>
        </p:spPr>
        <p:txBody>
          <a:bodyPr/>
          <a:lstStyle/>
          <a:p>
            <a:r>
              <a:rPr lang="en-US" dirty="0"/>
              <a:t>Understanding CRDs (Custom Resource Definitions)</a:t>
            </a:r>
            <a:endParaRPr lang="en-IN" dirty="0"/>
          </a:p>
        </p:txBody>
      </p:sp>
      <p:pic>
        <p:nvPicPr>
          <p:cNvPr id="6146" name="Picture 2" descr="CRDs and Custom Kubernetes Controllers in Rancher | SUSE Communities">
            <a:extLst>
              <a:ext uri="{FF2B5EF4-FFF2-40B4-BE49-F238E27FC236}">
                <a16:creationId xmlns:a16="http://schemas.microsoft.com/office/drawing/2014/main" id="{6A34DF1A-9CEC-1BCD-40DC-0610F5A81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348" y="984816"/>
            <a:ext cx="4179361" cy="341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What Are CRDs in Kubernetes and How to Use them?">
            <a:extLst>
              <a:ext uri="{FF2B5EF4-FFF2-40B4-BE49-F238E27FC236}">
                <a16:creationId xmlns:a16="http://schemas.microsoft.com/office/drawing/2014/main" id="{2EF4D6B7-978D-49C7-04BF-4BE497ED9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209" y="4488431"/>
            <a:ext cx="3439637" cy="235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5E15B0-29F2-B4D5-891F-33829773E659}"/>
              </a:ext>
            </a:extLst>
          </p:cNvPr>
          <p:cNvSpPr txBox="1"/>
          <p:nvPr/>
        </p:nvSpPr>
        <p:spPr>
          <a:xfrm>
            <a:off x="253320" y="1398660"/>
            <a:ext cx="6226628" cy="28623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dirty="0"/>
              <a:t>CRD (Custom Resource Definition)</a:t>
            </a:r>
            <a:r>
              <a:rPr lang="en-IN" dirty="0"/>
              <a:t> = a way to tell Kubernetes:</a:t>
            </a:r>
          </a:p>
          <a:p>
            <a:endParaRPr lang="en-IN" dirty="0"/>
          </a:p>
          <a:p>
            <a:r>
              <a:rPr lang="en-IN" b="1" dirty="0"/>
              <a:t>“I’m adding a new type of object with its own schema and rules.”</a:t>
            </a:r>
          </a:p>
          <a:p>
            <a:endParaRPr lang="en-IN" dirty="0"/>
          </a:p>
          <a:p>
            <a:r>
              <a:rPr lang="en-IN" dirty="0"/>
              <a:t>Once you define a CRD, you can create instances of it called </a:t>
            </a:r>
            <a:r>
              <a:rPr lang="en-IN" b="1" dirty="0"/>
              <a:t>Custom Resources (CRs), </a:t>
            </a:r>
            <a:r>
              <a:rPr lang="en-IN" dirty="0"/>
              <a:t>and </a:t>
            </a:r>
            <a:r>
              <a:rPr lang="en-IN" b="1" dirty="0"/>
              <a:t>controllers</a:t>
            </a:r>
            <a:r>
              <a:rPr lang="en-IN" dirty="0"/>
              <a:t> can watch them to do work.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EF59DE-428D-C9DE-4E42-DAFF2A852160}"/>
              </a:ext>
            </a:extLst>
          </p:cNvPr>
          <p:cNvSpPr txBox="1"/>
          <p:nvPr/>
        </p:nvSpPr>
        <p:spPr>
          <a:xfrm>
            <a:off x="253320" y="4536010"/>
            <a:ext cx="6226628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KEDA is basically </a:t>
            </a:r>
            <a:r>
              <a:rPr lang="en-US" b="1" dirty="0"/>
              <a:t>an implementation of the Kubernetes CRD + Controller pattern</a:t>
            </a:r>
            <a:r>
              <a:rPr lang="en-US" dirty="0"/>
              <a:t> — it just specializes in </a:t>
            </a:r>
            <a:r>
              <a:rPr lang="en-US" b="1" dirty="0"/>
              <a:t>event-driven autoscaling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651654-1650-940D-995E-F90226C8C995}"/>
              </a:ext>
            </a:extLst>
          </p:cNvPr>
          <p:cNvSpPr txBox="1"/>
          <p:nvPr/>
        </p:nvSpPr>
        <p:spPr>
          <a:xfrm>
            <a:off x="253320" y="5770542"/>
            <a:ext cx="6226628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KEDA is </a:t>
            </a:r>
            <a:r>
              <a:rPr lang="en-US" b="1" dirty="0"/>
              <a:t>not</a:t>
            </a:r>
            <a:r>
              <a:rPr lang="en-US" dirty="0"/>
              <a:t> a built‑in part of Kubernetes.</a:t>
            </a:r>
          </a:p>
          <a:p>
            <a:r>
              <a:rPr lang="en-US" dirty="0"/>
              <a:t>It’s an </a:t>
            </a:r>
            <a:r>
              <a:rPr lang="en-US" b="1" dirty="0"/>
              <a:t>add‑on</a:t>
            </a:r>
            <a:r>
              <a:rPr lang="en-US" dirty="0"/>
              <a:t> (an Operator) that you install into your cluster.</a:t>
            </a:r>
          </a:p>
        </p:txBody>
      </p:sp>
    </p:spTree>
    <p:extLst>
      <p:ext uri="{BB962C8B-B14F-4D97-AF65-F5344CB8AC3E}">
        <p14:creationId xmlns:p14="http://schemas.microsoft.com/office/powerpoint/2010/main" val="2062561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A900-B1CD-6F59-3555-DCF63E3AE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8" y="18255"/>
            <a:ext cx="11680371" cy="1325563"/>
          </a:xfrm>
        </p:spPr>
        <p:txBody>
          <a:bodyPr/>
          <a:lstStyle/>
          <a:p>
            <a:r>
              <a:rPr lang="en-US" dirty="0"/>
              <a:t>KEDA Trigger Types with Cloud Service Providers</a:t>
            </a:r>
            <a:endParaRPr lang="en-IN" dirty="0"/>
          </a:p>
        </p:txBody>
      </p:sp>
      <p:pic>
        <p:nvPicPr>
          <p:cNvPr id="7170" name="Picture 2" descr="Advanced Autoscaling in Kubernetes with KEDA | stormforge.io">
            <a:extLst>
              <a:ext uri="{FF2B5EF4-FFF2-40B4-BE49-F238E27FC236}">
                <a16:creationId xmlns:a16="http://schemas.microsoft.com/office/drawing/2014/main" id="{3A017196-4C44-5267-3686-7C9F73F4B5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909" y="1491694"/>
            <a:ext cx="9929736" cy="474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6905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42B0C-A86A-2EAD-7639-F2D7CC1E2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27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Some Use Cases…..</a:t>
            </a:r>
            <a:endParaRPr lang="en-IN" dirty="0"/>
          </a:p>
        </p:txBody>
      </p:sp>
      <p:pic>
        <p:nvPicPr>
          <p:cNvPr id="8196" name="Picture 4" descr="Beyond the Basics: Optimizing Kubernetes with KEDA's Autoscaling Magic | by  Amit Sharma | Medium">
            <a:extLst>
              <a:ext uri="{FF2B5EF4-FFF2-40B4-BE49-F238E27FC236}">
                <a16:creationId xmlns:a16="http://schemas.microsoft.com/office/drawing/2014/main" id="{4B330BCF-32AA-0766-86C6-5C67346E7E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341" y="1134150"/>
            <a:ext cx="9312734" cy="561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350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software application">
            <a:extLst>
              <a:ext uri="{FF2B5EF4-FFF2-40B4-BE49-F238E27FC236}">
                <a16:creationId xmlns:a16="http://schemas.microsoft.com/office/drawing/2014/main" id="{D79706AF-51E7-E903-B8A8-BA1F4C383A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270" y="33908"/>
            <a:ext cx="10002247" cy="6824092"/>
          </a:xfrm>
        </p:spPr>
      </p:pic>
      <p:pic>
        <p:nvPicPr>
          <p:cNvPr id="9220" name="Picture 4" descr="Storage - Queue | Microsoft Azure Mono">
            <a:extLst>
              <a:ext uri="{FF2B5EF4-FFF2-40B4-BE49-F238E27FC236}">
                <a16:creationId xmlns:a16="http://schemas.microsoft.com/office/drawing/2014/main" id="{8F4E1261-8704-2396-7152-5C322F69C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3573" y="333744"/>
            <a:ext cx="1171146" cy="1043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D12E6A-2A79-8120-14F1-CAA57F8473F3}"/>
              </a:ext>
            </a:extLst>
          </p:cNvPr>
          <p:cNvSpPr txBox="1"/>
          <p:nvPr/>
        </p:nvSpPr>
        <p:spPr>
          <a:xfrm>
            <a:off x="9698912" y="1376950"/>
            <a:ext cx="15204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Azure Queue</a:t>
            </a:r>
            <a:endParaRPr lang="en-IN" sz="1600" dirty="0"/>
          </a:p>
        </p:txBody>
      </p:sp>
      <p:pic>
        <p:nvPicPr>
          <p:cNvPr id="9222" name="Picture 6" descr="Azure Storage - Visual Studio Marketplace">
            <a:extLst>
              <a:ext uri="{FF2B5EF4-FFF2-40B4-BE49-F238E27FC236}">
                <a16:creationId xmlns:a16="http://schemas.microsoft.com/office/drawing/2014/main" id="{CB4F58BD-08CA-2E27-888C-DE1017515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176" y="3445954"/>
            <a:ext cx="1006867" cy="100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A2262D-15EF-9D85-8602-8688EC850E7F}"/>
              </a:ext>
            </a:extLst>
          </p:cNvPr>
          <p:cNvSpPr txBox="1"/>
          <p:nvPr/>
        </p:nvSpPr>
        <p:spPr>
          <a:xfrm>
            <a:off x="349375" y="4376012"/>
            <a:ext cx="15204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Azure Blob Store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833502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575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  Event Driven Scaling in AKS</vt:lpstr>
      <vt:lpstr>🚀 Scenario: Scaling an Azure AI Chat App in AKS using KEDA</vt:lpstr>
      <vt:lpstr>Scaler Type 1: HPA (Horizontal Pod Autoscaler)</vt:lpstr>
      <vt:lpstr>Scaler Type 2: VPA (Vertical Pod Autoscaler)</vt:lpstr>
      <vt:lpstr>Understanding the KEDA Architecture</vt:lpstr>
      <vt:lpstr>Understanding CRDs (Custom Resource Definitions)</vt:lpstr>
      <vt:lpstr>KEDA Trigger Types with Cloud Service Providers</vt:lpstr>
      <vt:lpstr>Some Use Cases…..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2025-08-02T13:30:20Z</dcterms:created>
  <dcterms:modified xsi:type="dcterms:W3CDTF">2025-08-02T14:05:42Z</dcterms:modified>
</cp:coreProperties>
</file>