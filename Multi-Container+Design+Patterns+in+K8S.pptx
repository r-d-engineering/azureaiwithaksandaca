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71DC35-536B-427E-8257-C89D63A4D679}" v="18" dt="2025-07-21T16:27:48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6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ljot bakshi" userId="e18f591f5991c12c" providerId="LiveId" clId="{D371DC35-536B-427E-8257-C89D63A4D679}"/>
    <pc:docChg chg="undo redo custSel addSld modSld">
      <pc:chgData name="kuljot bakshi" userId="e18f591f5991c12c" providerId="LiveId" clId="{D371DC35-536B-427E-8257-C89D63A4D679}" dt="2025-07-21T16:27:48.292" v="106" actId="1076"/>
      <pc:docMkLst>
        <pc:docMk/>
      </pc:docMkLst>
      <pc:sldChg chg="addSp modSp mod">
        <pc:chgData name="kuljot bakshi" userId="e18f591f5991c12c" providerId="LiveId" clId="{D371DC35-536B-427E-8257-C89D63A4D679}" dt="2025-07-21T16:23:49.166" v="11" actId="1076"/>
        <pc:sldMkLst>
          <pc:docMk/>
          <pc:sldMk cId="2538185605" sldId="260"/>
        </pc:sldMkLst>
        <pc:picChg chg="add mod">
          <ac:chgData name="kuljot bakshi" userId="e18f591f5991c12c" providerId="LiveId" clId="{D371DC35-536B-427E-8257-C89D63A4D679}" dt="2025-07-21T16:23:49.166" v="11" actId="1076"/>
          <ac:picMkLst>
            <pc:docMk/>
            <pc:sldMk cId="2538185605" sldId="260"/>
            <ac:picMk id="4" creationId="{111C5078-009D-7C23-3C08-C6D52FD44DBD}"/>
          </ac:picMkLst>
        </pc:picChg>
      </pc:sldChg>
      <pc:sldChg chg="addSp delSp modSp new mod">
        <pc:chgData name="kuljot bakshi" userId="e18f591f5991c12c" providerId="LiveId" clId="{D371DC35-536B-427E-8257-C89D63A4D679}" dt="2025-07-21T16:27:48.292" v="106" actId="1076"/>
        <pc:sldMkLst>
          <pc:docMk/>
          <pc:sldMk cId="1490898175" sldId="261"/>
        </pc:sldMkLst>
        <pc:spChg chg="mod">
          <ac:chgData name="kuljot bakshi" userId="e18f591f5991c12c" providerId="LiveId" clId="{D371DC35-536B-427E-8257-C89D63A4D679}" dt="2025-07-21T16:24:42.685" v="43" actId="1076"/>
          <ac:spMkLst>
            <pc:docMk/>
            <pc:sldMk cId="1490898175" sldId="261"/>
            <ac:spMk id="2" creationId="{3729428B-7ED4-7C1F-F90E-F57794D6B75A}"/>
          </ac:spMkLst>
        </pc:spChg>
        <pc:spChg chg="del">
          <ac:chgData name="kuljot bakshi" userId="e18f591f5991c12c" providerId="LiveId" clId="{D371DC35-536B-427E-8257-C89D63A4D679}" dt="2025-07-21T16:24:53.889" v="44"/>
          <ac:spMkLst>
            <pc:docMk/>
            <pc:sldMk cId="1490898175" sldId="261"/>
            <ac:spMk id="3" creationId="{1D9C5A38-9BE8-110B-99DE-53495A4B712C}"/>
          </ac:spMkLst>
        </pc:spChg>
        <pc:spChg chg="add del mod">
          <ac:chgData name="kuljot bakshi" userId="e18f591f5991c12c" providerId="LiveId" clId="{D371DC35-536B-427E-8257-C89D63A4D679}" dt="2025-07-21T16:25:18.190" v="56"/>
          <ac:spMkLst>
            <pc:docMk/>
            <pc:sldMk cId="1490898175" sldId="261"/>
            <ac:spMk id="4" creationId="{0E3D7B26-B70C-FFE9-4203-2ED51F7A1BB4}"/>
          </ac:spMkLst>
        </pc:spChg>
        <pc:spChg chg="add del">
          <ac:chgData name="kuljot bakshi" userId="e18f591f5991c12c" providerId="LiveId" clId="{D371DC35-536B-427E-8257-C89D63A4D679}" dt="2025-07-21T16:25:43.915" v="65" actId="22"/>
          <ac:spMkLst>
            <pc:docMk/>
            <pc:sldMk cId="1490898175" sldId="261"/>
            <ac:spMk id="6" creationId="{F972FC05-E673-F889-36C3-D4302D1DC410}"/>
          </ac:spMkLst>
        </pc:spChg>
        <pc:spChg chg="add mod">
          <ac:chgData name="kuljot bakshi" userId="e18f591f5991c12c" providerId="LiveId" clId="{D371DC35-536B-427E-8257-C89D63A4D679}" dt="2025-07-21T16:26:40.766" v="84" actId="1076"/>
          <ac:spMkLst>
            <pc:docMk/>
            <pc:sldMk cId="1490898175" sldId="261"/>
            <ac:spMk id="8" creationId="{5C515704-FA72-85B3-2BA9-17E6CF98CBF1}"/>
          </ac:spMkLst>
        </pc:spChg>
        <pc:spChg chg="add del">
          <ac:chgData name="kuljot bakshi" userId="e18f591f5991c12c" providerId="LiveId" clId="{D371DC35-536B-427E-8257-C89D63A4D679}" dt="2025-07-21T16:25:58.119" v="72" actId="22"/>
          <ac:spMkLst>
            <pc:docMk/>
            <pc:sldMk cId="1490898175" sldId="261"/>
            <ac:spMk id="10" creationId="{03C2288B-3960-6796-2DBD-719DC33C2E94}"/>
          </ac:spMkLst>
        </pc:spChg>
        <pc:spChg chg="add mod">
          <ac:chgData name="kuljot bakshi" userId="e18f591f5991c12c" providerId="LiveId" clId="{D371DC35-536B-427E-8257-C89D63A4D679}" dt="2025-07-21T16:27:31.148" v="100" actId="1076"/>
          <ac:spMkLst>
            <pc:docMk/>
            <pc:sldMk cId="1490898175" sldId="261"/>
            <ac:spMk id="12" creationId="{1B6C6A65-B397-C7A4-2DF6-073A708FD842}"/>
          </ac:spMkLst>
        </pc:spChg>
        <pc:spChg chg="add del">
          <ac:chgData name="kuljot bakshi" userId="e18f591f5991c12c" providerId="LiveId" clId="{D371DC35-536B-427E-8257-C89D63A4D679}" dt="2025-07-21T16:26:57.061" v="87" actId="22"/>
          <ac:spMkLst>
            <pc:docMk/>
            <pc:sldMk cId="1490898175" sldId="261"/>
            <ac:spMk id="14" creationId="{A133EDC9-933C-C57F-82E6-CBBAFB4AB9C5}"/>
          </ac:spMkLst>
        </pc:spChg>
        <pc:spChg chg="add mod">
          <ac:chgData name="kuljot bakshi" userId="e18f591f5991c12c" providerId="LiveId" clId="{D371DC35-536B-427E-8257-C89D63A4D679}" dt="2025-07-21T16:27:32.933" v="101" actId="1076"/>
          <ac:spMkLst>
            <pc:docMk/>
            <pc:sldMk cId="1490898175" sldId="261"/>
            <ac:spMk id="16" creationId="{56EDDF5F-4FA3-BA94-11EE-611E51F4B86F}"/>
          </ac:spMkLst>
        </pc:spChg>
        <pc:spChg chg="add del">
          <ac:chgData name="kuljot bakshi" userId="e18f591f5991c12c" providerId="LiveId" clId="{D371DC35-536B-427E-8257-C89D63A4D679}" dt="2025-07-21T16:27:23.433" v="95" actId="22"/>
          <ac:spMkLst>
            <pc:docMk/>
            <pc:sldMk cId="1490898175" sldId="261"/>
            <ac:spMk id="18" creationId="{CDC0933C-BE18-1824-E393-84C51ADB383D}"/>
          </ac:spMkLst>
        </pc:spChg>
        <pc:spChg chg="add mod">
          <ac:chgData name="kuljot bakshi" userId="e18f591f5991c12c" providerId="LiveId" clId="{D371DC35-536B-427E-8257-C89D63A4D679}" dt="2025-07-21T16:27:45.704" v="105" actId="13822"/>
          <ac:spMkLst>
            <pc:docMk/>
            <pc:sldMk cId="1490898175" sldId="261"/>
            <ac:spMk id="20" creationId="{B7109014-8443-EDD9-CC4B-57078C72A655}"/>
          </ac:spMkLst>
        </pc:spChg>
        <pc:picChg chg="add del mod">
          <ac:chgData name="kuljot bakshi" userId="e18f591f5991c12c" providerId="LiveId" clId="{D371DC35-536B-427E-8257-C89D63A4D679}" dt="2025-07-21T16:25:17.045" v="55" actId="478"/>
          <ac:picMkLst>
            <pc:docMk/>
            <pc:sldMk cId="1490898175" sldId="261"/>
            <ac:picMk id="1026" creationId="{1F31B3AF-E7C3-93E8-14F9-52FEB07FF3FC}"/>
          </ac:picMkLst>
        </pc:picChg>
        <pc:picChg chg="add mod">
          <ac:chgData name="kuljot bakshi" userId="e18f591f5991c12c" providerId="LiveId" clId="{D371DC35-536B-427E-8257-C89D63A4D679}" dt="2025-07-21T16:27:48.292" v="106" actId="1076"/>
          <ac:picMkLst>
            <pc:docMk/>
            <pc:sldMk cId="1490898175" sldId="261"/>
            <ac:picMk id="1028" creationId="{C9231C87-CF9D-B86B-B920-7EAB31863E7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1C29A-14F8-9665-AA97-BB0A07DAED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62D132-03A8-08BC-CFED-6506877EB6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9C619-31B4-B246-5F5F-2C0936C52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A8B10-F327-349E-5F01-B5521FF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45CF0-8981-1FC6-6C1D-49B937757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5291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BFA15-2831-5A8D-6BD2-6C9763309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D888C-9A02-9F3B-F4DA-5FC512769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E5FF3-7526-5BC5-91DD-3D29A50A1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52F38-97BF-0F02-4E86-615B0A10B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142D2-53F6-3E7B-9F90-598A1534D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1681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2FB5F-84DE-928D-54A6-2962C7C3E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F09B5-7ECD-DEFB-14E2-9C30E0D20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F8505-397A-E935-7453-9F8BE966A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B9F4C-3D69-CD4F-5419-0906B74CB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3F445-361D-62D9-352C-1DBC77660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16026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7AFBE-87FB-584E-AB82-42382FF8E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424D5-4A09-63DD-300B-A55F7CACAB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153D2A-AD66-856B-E657-52C8FE32B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B041B-2D19-2E58-EA7C-B1B244604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1C6D1-AC5D-A9D8-7362-C6B2C45C2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BEE53-FDA1-1F63-7E30-3C261E1C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0503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4007D-003D-9BBF-A9AD-736E36BC5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94919-8A11-8541-4889-422CD65D8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0FB77-BC6D-5F6D-8B58-313363B0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677264-5405-B18C-5CF1-E9CE134745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49A873-380E-4473-7794-F4A97EEF06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1F9B7B-8D18-BC3C-B29D-F169B9438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FCB0B0-2887-CBB1-5DB7-B6240966B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23E2CB-990F-5F19-0D2C-5273E824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23625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244A6-1E57-5008-F363-9C6627A99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DBB886-639A-E7F4-0C92-5011AF296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667243-0F2B-08D2-4975-B03FB77CE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CCC7CA-7B49-8D21-38BE-DF5978158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441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5219A9-8F22-3CBC-3427-B94161B0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996472-C886-855A-41F3-B557EA088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ED183-FB1E-2EEA-98C6-6A5F0F323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210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3AA68-CAE2-CB31-4CC9-6BA254183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27048-DAB0-5732-D2F7-71C521A29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90971-1049-A636-5EFC-30C1B3113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92013-EED3-10AB-5816-6A369A0DB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4FC5A-B2C9-DB0F-3103-C3459E2FA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CDE08-1AA4-DDF6-2193-2E7159B04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7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15B74-4032-DA78-40AB-E853EE726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CD1719-F20A-1566-DBD1-54AEC42EBB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42F6FA-37D0-5E8B-D96A-9350D49B5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F7409-F2BD-B396-ED1A-97F3F94EE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90422-DB12-DC68-4FB0-D048E7B2B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8370F-8B27-1600-5BA0-093C48737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402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6BFE2-6810-2173-0BCD-227688792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62204D-64BE-4595-06CC-01357A45B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82821-9AEC-415F-A6D0-04A3BCE78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CCBB2-6A0B-AAAE-B92E-1F2526FB9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AE994-0E0A-C279-2172-6D8E14C20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35293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E1224B-F2BB-49BD-4054-448E040384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667173-0216-07DE-8326-01D8719552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9C59E-B111-B3B0-7BDD-B73EA4070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E671-1C83-40F7-9D33-FE8AAC7F721F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1B577-B9DF-BCF7-0F99-5DB249C1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C3A6C-87AF-FE37-9E6D-B8DBAFBCE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9239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62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6DFBAB-C514-D0A4-B52A-C77D0FBBA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73706-001E-F12C-675D-44D1BA436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27CD1-15C8-9751-AE28-5CE9C2858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E9E671-1C83-40F7-9D33-FE8AAC7F721F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3C8B9-E756-0513-D182-84288C403D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E480F-AAE2-E8ED-43E8-2CCB54D3A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37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D2AEB-422D-FBD6-59F1-4BC3B5CA7C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Multi-Container Design Patterns in K8S</a:t>
            </a:r>
            <a:endParaRPr lang="en-IN" dirty="0"/>
          </a:p>
        </p:txBody>
      </p:sp>
      <p:pic>
        <p:nvPicPr>
          <p:cNvPr id="1026" name="Picture 2" descr="Kubernetes Sidecar Container - Best Practices and Examples">
            <a:extLst>
              <a:ext uri="{FF2B5EF4-FFF2-40B4-BE49-F238E27FC236}">
                <a16:creationId xmlns:a16="http://schemas.microsoft.com/office/drawing/2014/main" id="{02B54788-F89F-9CC6-2834-634332F2E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85" r="2" b="16771"/>
          <a:stretch>
            <a:fillRect/>
          </a:stretch>
        </p:blipFill>
        <p:spPr bwMode="auto">
          <a:xfrm>
            <a:off x="20" y="10"/>
            <a:ext cx="12191979" cy="498641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926055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Kubernetes - Creating Multiple Container in a Pod - GeeksforGeeks">
            <a:extLst>
              <a:ext uri="{FF2B5EF4-FFF2-40B4-BE49-F238E27FC236}">
                <a16:creationId xmlns:a16="http://schemas.microsoft.com/office/drawing/2014/main" id="{3339B3FA-F187-66CC-649A-115D651C798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654" y="1141903"/>
            <a:ext cx="6999497" cy="4574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3E8B60-F929-723D-AEAC-C0ECDB96F86D}"/>
              </a:ext>
            </a:extLst>
          </p:cNvPr>
          <p:cNvSpPr txBox="1"/>
          <p:nvPr/>
        </p:nvSpPr>
        <p:spPr>
          <a:xfrm>
            <a:off x="256853" y="1582220"/>
            <a:ext cx="4315146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Pods</a:t>
            </a:r>
            <a:r>
              <a:rPr lang="en-US" dirty="0"/>
              <a:t> are the </a:t>
            </a:r>
            <a:r>
              <a:rPr lang="en-US" b="1" dirty="0"/>
              <a:t>simplest building blocks </a:t>
            </a:r>
            <a:r>
              <a:rPr lang="en-US" dirty="0"/>
              <a:t>of a Kubernetes Cluster and can run </a:t>
            </a:r>
            <a:r>
              <a:rPr lang="en-US" b="1" dirty="0"/>
              <a:t>multiple containers </a:t>
            </a:r>
            <a:r>
              <a:rPr lang="en-US" dirty="0"/>
              <a:t>thus giving rise to “</a:t>
            </a:r>
            <a:r>
              <a:rPr lang="en-US" b="1" dirty="0"/>
              <a:t>Multi-Container Design Patterns</a:t>
            </a:r>
            <a:r>
              <a:rPr lang="en-US" dirty="0"/>
              <a:t>”.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6A4E8-4D3A-3F17-1A60-5FC210929860}"/>
              </a:ext>
            </a:extLst>
          </p:cNvPr>
          <p:cNvSpPr txBox="1"/>
          <p:nvPr/>
        </p:nvSpPr>
        <p:spPr>
          <a:xfrm>
            <a:off x="256853" y="4157644"/>
            <a:ext cx="4315146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There are mainly </a:t>
            </a:r>
            <a:r>
              <a:rPr lang="en-US" b="1" dirty="0"/>
              <a:t>two types </a:t>
            </a:r>
            <a:r>
              <a:rPr lang="en-US" dirty="0"/>
              <a:t>of “Multi-Container Design Patterns” : </a:t>
            </a:r>
          </a:p>
          <a:p>
            <a:pPr marL="342900" indent="-342900">
              <a:buAutoNum type="arabicParenR"/>
            </a:pPr>
            <a:r>
              <a:rPr lang="en-US" b="1" dirty="0"/>
              <a:t>Init Container Design Pattern.</a:t>
            </a:r>
          </a:p>
          <a:p>
            <a:pPr marL="342900" indent="-342900">
              <a:buAutoNum type="arabicParenR"/>
            </a:pPr>
            <a:r>
              <a:rPr lang="en-US" b="1" dirty="0"/>
              <a:t>Sidecar Container Design Pattern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0472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873F4-970E-FCD0-9B5D-21A66173E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359" y="-177801"/>
            <a:ext cx="10515600" cy="1325563"/>
          </a:xfrm>
        </p:spPr>
        <p:txBody>
          <a:bodyPr/>
          <a:lstStyle/>
          <a:p>
            <a:r>
              <a:rPr lang="en-IN" dirty="0"/>
              <a:t>✨ Sidecar Container: Consider a Scenario...</a:t>
            </a:r>
          </a:p>
        </p:txBody>
      </p:sp>
      <p:pic>
        <p:nvPicPr>
          <p:cNvPr id="5" name="Picture 4" descr="A diagram of a software company">
            <a:extLst>
              <a:ext uri="{FF2B5EF4-FFF2-40B4-BE49-F238E27FC236}">
                <a16:creationId xmlns:a16="http://schemas.microsoft.com/office/drawing/2014/main" id="{FCD08B9A-3228-3351-D6FB-234ACF0565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537" y="1038419"/>
            <a:ext cx="6892463" cy="3878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B67A0F-9162-F40A-13B3-E3EB4389C7E2}"/>
              </a:ext>
            </a:extLst>
          </p:cNvPr>
          <p:cNvSpPr txBox="1"/>
          <p:nvPr/>
        </p:nvSpPr>
        <p:spPr>
          <a:xfrm>
            <a:off x="161818" y="987961"/>
            <a:ext cx="5006083" cy="17543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🔹 </a:t>
            </a:r>
            <a:r>
              <a:rPr lang="en-US" b="1" dirty="0"/>
              <a:t>Imagine you're building an AI-powered chatbot service</a:t>
            </a:r>
            <a:r>
              <a:rPr lang="en-US" dirty="0"/>
              <a:t> using Azure OpenAI and deploying it to AKS.</a:t>
            </a:r>
          </a:p>
          <a:p>
            <a:pPr>
              <a:buNone/>
            </a:pPr>
            <a:r>
              <a:rPr lang="en-US" dirty="0"/>
              <a:t>🔹 You’ve got your </a:t>
            </a:r>
            <a:r>
              <a:rPr lang="en-US" b="1" dirty="0"/>
              <a:t>Core Container</a:t>
            </a:r>
            <a:r>
              <a:rPr lang="en-US" dirty="0"/>
              <a:t> that talks to the Azure OpenAI GPT endpoint — that’s your brain.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4BEFC-CF61-DCD8-4376-B774D04B5888}"/>
              </a:ext>
            </a:extLst>
          </p:cNvPr>
          <p:cNvSpPr txBox="1"/>
          <p:nvPr/>
        </p:nvSpPr>
        <p:spPr>
          <a:xfrm>
            <a:off x="161818" y="2892386"/>
            <a:ext cx="5006082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🔹 But you realize: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🚫 You need to </a:t>
            </a:r>
            <a:r>
              <a:rPr lang="en-US" b="1" dirty="0"/>
              <a:t>filter harmful content</a:t>
            </a:r>
            <a:r>
              <a:rPr lang="en-US" dirty="0"/>
              <a:t> before it hits GPT.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📜 You need to </a:t>
            </a:r>
            <a:r>
              <a:rPr lang="en-US" b="1" dirty="0"/>
              <a:t>log all requests and responses</a:t>
            </a:r>
            <a:r>
              <a:rPr lang="en-US" dirty="0"/>
              <a:t> for auditing and compliance.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💾 And you want to do this </a:t>
            </a:r>
            <a:r>
              <a:rPr lang="en-US" b="1" dirty="0"/>
              <a:t>without bloating your main application code</a:t>
            </a:r>
            <a:r>
              <a:rPr lang="en-US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E9DB6B-7F9C-536C-E3B7-EC242199F46B}"/>
              </a:ext>
            </a:extLst>
          </p:cNvPr>
          <p:cNvSpPr txBox="1"/>
          <p:nvPr/>
        </p:nvSpPr>
        <p:spPr>
          <a:xfrm>
            <a:off x="161818" y="5148883"/>
            <a:ext cx="10353782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🔹 So, you introduce </a:t>
            </a:r>
            <a:r>
              <a:rPr lang="en-IN" b="1" dirty="0"/>
              <a:t>sidecar containers</a:t>
            </a:r>
            <a:r>
              <a:rPr lang="en-I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🛡 </a:t>
            </a:r>
            <a:r>
              <a:rPr lang="en-IN" b="1" dirty="0"/>
              <a:t>Sidecar Proxy Container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Sits in front, intercepting requests, filtering out inappropriate content before reaching the core logic.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📥 </a:t>
            </a:r>
            <a:r>
              <a:rPr lang="en-IN" b="1" dirty="0"/>
              <a:t>Sidecar Log Scraper Container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Sits beside, monitoring shared volumes, and shipping logs to Azure </a:t>
            </a:r>
            <a:r>
              <a:rPr lang="en-IN" dirty="0" err="1"/>
              <a:t>CosmosDB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9466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243C2-3379-E5D7-DD91-608D7663B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28801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are Sidecar Containers…..?</a:t>
            </a:r>
            <a:endParaRPr lang="en-IN" dirty="0"/>
          </a:p>
        </p:txBody>
      </p:sp>
      <p:pic>
        <p:nvPicPr>
          <p:cNvPr id="4098" name="Picture 2" descr="Sidecar pattern - Azure Architecture Center | Microsoft Learn">
            <a:extLst>
              <a:ext uri="{FF2B5EF4-FFF2-40B4-BE49-F238E27FC236}">
                <a16:creationId xmlns:a16="http://schemas.microsoft.com/office/drawing/2014/main" id="{C985D089-2FB2-459A-D03D-3F5DD8ACCF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26" y="3276602"/>
            <a:ext cx="7309426" cy="3473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idecar Container Pattern">
            <a:extLst>
              <a:ext uri="{FF2B5EF4-FFF2-40B4-BE49-F238E27FC236}">
                <a16:creationId xmlns:a16="http://schemas.microsoft.com/office/drawing/2014/main" id="{1C701E65-82AA-E27D-4518-226B1652C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349" y="3011138"/>
            <a:ext cx="4197263" cy="3738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3B0A5B-EEF1-DF71-8170-D36B15212D9A}"/>
              </a:ext>
            </a:extLst>
          </p:cNvPr>
          <p:cNvSpPr txBox="1"/>
          <p:nvPr/>
        </p:nvSpPr>
        <p:spPr>
          <a:xfrm>
            <a:off x="291226" y="1160818"/>
            <a:ext cx="6585856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This pattern is named </a:t>
            </a:r>
            <a:r>
              <a:rPr lang="en-US" b="1" dirty="0"/>
              <a:t>Sidecar</a:t>
            </a:r>
            <a:r>
              <a:rPr lang="en-US" dirty="0"/>
              <a:t> because it resembles a sidecar </a:t>
            </a:r>
            <a:r>
              <a:rPr lang="en-US" b="1" dirty="0"/>
              <a:t>attached to a motorcycle</a:t>
            </a:r>
            <a:r>
              <a:rPr lang="en-US" dirty="0"/>
              <a:t>. In the pattern, the sidecar is attached to a parent application and provides </a:t>
            </a:r>
            <a:r>
              <a:rPr lang="en-US" b="1" dirty="0"/>
              <a:t>supporting features </a:t>
            </a:r>
            <a:r>
              <a:rPr lang="en-US" dirty="0"/>
              <a:t>for the application.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7E2FCF-D74C-E69F-3C35-8D9C857BA03E}"/>
              </a:ext>
            </a:extLst>
          </p:cNvPr>
          <p:cNvSpPr txBox="1"/>
          <p:nvPr/>
        </p:nvSpPr>
        <p:spPr>
          <a:xfrm>
            <a:off x="7232737" y="1299317"/>
            <a:ext cx="4197263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The Primary work of a sidecar container is to </a:t>
            </a:r>
            <a:r>
              <a:rPr lang="en-US" b="1" dirty="0"/>
              <a:t>improve the functionality </a:t>
            </a:r>
            <a:r>
              <a:rPr lang="en-US" dirty="0"/>
              <a:t>of the main container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0754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75913-34CA-9655-AAB5-59FFFA429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629" y="-179161"/>
            <a:ext cx="10515600" cy="1325563"/>
          </a:xfrm>
        </p:spPr>
        <p:txBody>
          <a:bodyPr/>
          <a:lstStyle/>
          <a:p>
            <a:r>
              <a:rPr lang="en-IN" dirty="0"/>
              <a:t>✨ </a:t>
            </a:r>
            <a:r>
              <a:rPr lang="en-US" dirty="0"/>
              <a:t>Init Container: Consider a Scenario…….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82D1E-8B4D-CD9F-41F1-A9476AB12994}"/>
              </a:ext>
            </a:extLst>
          </p:cNvPr>
          <p:cNvSpPr txBox="1"/>
          <p:nvPr/>
        </p:nvSpPr>
        <p:spPr>
          <a:xfrm>
            <a:off x="152400" y="1009615"/>
            <a:ext cx="60960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/>
              <a:t>🔹 </a:t>
            </a:r>
            <a:r>
              <a:rPr lang="en-US" b="1"/>
              <a:t>Imagine you're deploying a powerful AI app</a:t>
            </a:r>
            <a:r>
              <a:rPr lang="en-US"/>
              <a:t> on AKS — it runs GPT calls, connects to a database, and exposes a React frontend.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613641-F5AC-FB6F-AD84-BD6FC2C7D116}"/>
              </a:ext>
            </a:extLst>
          </p:cNvPr>
          <p:cNvSpPr txBox="1"/>
          <p:nvPr/>
        </p:nvSpPr>
        <p:spPr>
          <a:xfrm>
            <a:off x="152400" y="2081354"/>
            <a:ext cx="6096000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🔹 You’re ready to deploy, but there’s a problem: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❌ Your main app needs </a:t>
            </a:r>
            <a:r>
              <a:rPr lang="en-US" b="1" dirty="0"/>
              <a:t>config files from a blob storage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❌ It depends on </a:t>
            </a:r>
            <a:r>
              <a:rPr lang="en-US" b="1" dirty="0"/>
              <a:t>database schema migrations</a:t>
            </a:r>
            <a:r>
              <a:rPr lang="en-US" dirty="0"/>
              <a:t> before it can start.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❌ And your app </a:t>
            </a:r>
            <a:r>
              <a:rPr lang="en-US" b="1" dirty="0"/>
              <a:t>crashes if those things aren’t ready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5CB11B-13E7-76BD-7DED-4007028B77EF}"/>
              </a:ext>
            </a:extLst>
          </p:cNvPr>
          <p:cNvSpPr txBox="1"/>
          <p:nvPr/>
        </p:nvSpPr>
        <p:spPr>
          <a:xfrm>
            <a:off x="152400" y="3707091"/>
            <a:ext cx="60960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🔹 So what do you do?</a:t>
            </a:r>
          </a:p>
          <a:p>
            <a:pPr>
              <a:buNone/>
            </a:pPr>
            <a:r>
              <a:rPr lang="en-US" dirty="0"/>
              <a:t>🔹 You use </a:t>
            </a:r>
            <a:r>
              <a:rPr lang="en-US" b="1" dirty="0"/>
              <a:t>Init Containers</a:t>
            </a:r>
            <a:r>
              <a:rPr lang="en-US" dirty="0"/>
              <a:t> — little containers that run </a:t>
            </a:r>
            <a:r>
              <a:rPr lang="en-US" b="1" dirty="0"/>
              <a:t>before</a:t>
            </a:r>
            <a:r>
              <a:rPr lang="en-US" dirty="0"/>
              <a:t> your main app starts.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C63F0A-1EA5-E4A4-8F94-16701AB70B6A}"/>
              </a:ext>
            </a:extLst>
          </p:cNvPr>
          <p:cNvSpPr txBox="1"/>
          <p:nvPr/>
        </p:nvSpPr>
        <p:spPr>
          <a:xfrm>
            <a:off x="152400" y="4778830"/>
            <a:ext cx="11876314" cy="175432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🧱 In This Scenario: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⚙️ </a:t>
            </a:r>
            <a:r>
              <a:rPr lang="en-US" b="1" dirty="0"/>
              <a:t>Init Container 1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Downloads config files from Azure Blob Storage and places them in a shared volume.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🧬 </a:t>
            </a:r>
            <a:r>
              <a:rPr lang="en-US" b="1" dirty="0"/>
              <a:t>Init Container 2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Applies database migrations using a lightweight Python or Flyway script.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🚀 </a:t>
            </a:r>
            <a:r>
              <a:rPr lang="en-US" b="1" dirty="0"/>
              <a:t>Only after both Init Containers succeed</a:t>
            </a:r>
            <a:r>
              <a:rPr lang="en-US" dirty="0"/>
              <a:t>, your </a:t>
            </a:r>
            <a:r>
              <a:rPr lang="en-US" b="1" dirty="0"/>
              <a:t>main application container starts</a:t>
            </a:r>
            <a:r>
              <a:rPr lang="en-US" dirty="0"/>
              <a:t> — now fully ready to perform.</a:t>
            </a:r>
          </a:p>
        </p:txBody>
      </p:sp>
      <p:pic>
        <p:nvPicPr>
          <p:cNvPr id="4" name="Picture 3" descr="A diagram of a file system">
            <a:extLst>
              <a:ext uri="{FF2B5EF4-FFF2-40B4-BE49-F238E27FC236}">
                <a16:creationId xmlns:a16="http://schemas.microsoft.com/office/drawing/2014/main" id="{111C5078-009D-7C23-3C08-C6D52FD44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079" y="1142102"/>
            <a:ext cx="5675521" cy="319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185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9428B-7ED4-7C1F-F90E-F57794D6B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667" y="-22050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are Init Container….?</a:t>
            </a:r>
            <a:endParaRPr lang="en-IN" dirty="0"/>
          </a:p>
        </p:txBody>
      </p:sp>
      <p:pic>
        <p:nvPicPr>
          <p:cNvPr id="1028" name="Picture 4" descr="init-container in kubernetes">
            <a:extLst>
              <a:ext uri="{FF2B5EF4-FFF2-40B4-BE49-F238E27FC236}">
                <a16:creationId xmlns:a16="http://schemas.microsoft.com/office/drawing/2014/main" id="{C9231C87-CF9D-B86B-B920-7EAB31863E7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268" y="1313722"/>
            <a:ext cx="5653676" cy="5171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515704-FA72-85B3-2BA9-17E6CF98CBF1}"/>
              </a:ext>
            </a:extLst>
          </p:cNvPr>
          <p:cNvSpPr txBox="1"/>
          <p:nvPr/>
        </p:nvSpPr>
        <p:spPr>
          <a:xfrm>
            <a:off x="335624" y="1583633"/>
            <a:ext cx="5530065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Init Containers </a:t>
            </a:r>
            <a:r>
              <a:rPr lang="en-US" dirty="0"/>
              <a:t>are special containers that run before the main application containers in a pod start.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6C6A65-B397-C7A4-2DF6-073A708FD842}"/>
              </a:ext>
            </a:extLst>
          </p:cNvPr>
          <p:cNvSpPr txBox="1"/>
          <p:nvPr/>
        </p:nvSpPr>
        <p:spPr>
          <a:xfrm>
            <a:off x="335623" y="2441304"/>
            <a:ext cx="5520111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They are designed to perform </a:t>
            </a:r>
            <a:r>
              <a:rPr lang="en-US" b="1" dirty="0"/>
              <a:t>initialization tasks</a:t>
            </a:r>
            <a:r>
              <a:rPr lang="en-US" dirty="0"/>
              <a:t>, such as setting up </a:t>
            </a:r>
            <a:r>
              <a:rPr lang="en-US" b="1" dirty="0"/>
              <a:t>configuration files</a:t>
            </a:r>
            <a:r>
              <a:rPr lang="en-US" dirty="0"/>
              <a:t>,</a:t>
            </a:r>
            <a:r>
              <a:rPr lang="en-US" b="1" dirty="0"/>
              <a:t> initializing databases</a:t>
            </a:r>
            <a:r>
              <a:rPr lang="en-US" dirty="0"/>
              <a:t>, or any other operation necessary for the </a:t>
            </a:r>
            <a:r>
              <a:rPr lang="en-US" b="1" dirty="0"/>
              <a:t>proper functioning of the application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EDDF5F-4FA3-BA94-11EE-611E51F4B86F}"/>
              </a:ext>
            </a:extLst>
          </p:cNvPr>
          <p:cNvSpPr txBox="1"/>
          <p:nvPr/>
        </p:nvSpPr>
        <p:spPr>
          <a:xfrm>
            <a:off x="335622" y="3899408"/>
            <a:ext cx="5520111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Sequential Execution</a:t>
            </a:r>
            <a:r>
              <a:rPr lang="en-US" dirty="0"/>
              <a:t>: Init Containers run sequentially and complete their tasks before the primary containers start.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109014-8443-EDD9-CC4B-57078C72A655}"/>
              </a:ext>
            </a:extLst>
          </p:cNvPr>
          <p:cNvSpPr txBox="1"/>
          <p:nvPr/>
        </p:nvSpPr>
        <p:spPr>
          <a:xfrm>
            <a:off x="335622" y="5123067"/>
            <a:ext cx="5520111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Fail and Restart: If an Init Container fails to execute successfully, the entire pod initialization fails, and the pod restarts until the Init Containers complete successfully.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0898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515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Multi-Container Design Patterns in K8S</vt:lpstr>
      <vt:lpstr>PowerPoint Presentation</vt:lpstr>
      <vt:lpstr>✨ Sidecar Container: Consider a Scenario...</vt:lpstr>
      <vt:lpstr>What are Sidecar Containers…..?</vt:lpstr>
      <vt:lpstr>✨ Init Container: Consider a Scenario…….</vt:lpstr>
      <vt:lpstr>What are Init Container….?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2025-07-21T11:28:08Z</dcterms:created>
  <dcterms:modified xsi:type="dcterms:W3CDTF">2025-07-21T16:27:49Z</dcterms:modified>
</cp:coreProperties>
</file>